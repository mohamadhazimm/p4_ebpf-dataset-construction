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the question: does combining host and network observations help distinguish this malware cohort from a controlled benign workload set? The headline result is a modest hybrid improvement over host-only under grouped out-of-fold evaluation. This is not a live P4 hardware result or a claim of universal superiority.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experiment compares three binary classifiers on identical samples and grouped folds. Network-only uses packet and flow counters, host-only uses eBPF-derived system-call counters, and hybrid combines them. The question is whether the two sensor views add complementary evidence under comparable feature budgets, not whether the model identifies a malware family.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inventory contains 231 acquisitions. 224 malware samples had archived telemetry and were included; 7 did not and were excluded. The final binary dataset adds 138 benign workloads, yielding 362 evaluated samples. The newest batch had 42 acquisitions, 38 telemetry captures, and four without usable telemetry. The 195 telemetry windows and 21,189 eBPF events refer to the newest batch's successful captures, not the whole cohort.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Candidate archives were selected from MalwareBazaar metadata, verified by SHA-256, staged in a guest restored from a clean snapshot, and run one at a time. The malware VM and sink VM used only the internal malnet network. Packet capture and eBPF telemetry were collected in parallel. The 20-second cap and 0.5-second windows were consistent across the collection. A nonzero exit or timeout did not change the malware label; missing archived telemetry did exclude a sample.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raw collection produces multiple time windows per sample. Dataset construction aggregates each selected base signal using mean, maximum, sum, standard deviation, and active-window count. Nine network signal families produce 45 values; nine selected host/eBPF families also produce 45. Hybrid concatenates them for 90. The feature contract intentionally excludes CPU and memory observer metrics, timestamps, labels, filenames, process details, and execution status.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StratifiedGroupKFold uses five folds and seed 42. The 57 groups are 29 malware signature groups plus 28 benign package-family groups; no group crosses folds. Within each fold, median imputation is fit only on the training partition, followed by the same 500-tree Random Forest configuration. Each sample receives one held-out probability for each feature set. Balanced accuracy is the mean of sensitivity and specificity, which is useful when class sizes differ.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pooled out-of-fold values come directly from cv_metrics.csv. Hybrid balanced accuracy is 0.929, compared with 0.918 for host-only and 0.874 for network-only. Hybrid ROC-AUC is 0.985. Balanced accuracy is not the same as accuracy: it gives equal weight to sensitivity and specificity. The displayed bar axis starts at 0.70 to make small differences readable, so compare the printed values rather than visual bar length alone.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chart uses balanced accuracy for each metadata category versus the same 138 benign controls, from the global model's out-of-fold predictions. The sample count is shown beside each category because the groups vary from 2 Trojan samples to 86 botnet samples. Hybrid is strongest for botnet and DDoS, and ties host for backdoor and the two-sample Trojan slice. Network scores higher on the small Other ELF slice, while host is strongest for ransomware. These are descriptive slices and not independently trained category classifiers.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confusion counts make the operating-point tradeoff concrete. Network has 32 false negatives and 15 false positives. Host has 22 and 9. Hybrid has 17 and 9. Relative to host-only, the hybrid model reduces false negatives by five without increasing false positives on this pooled OOF set. This is a cohort-specific threshold result at 0.5, not a guarantee at another deployment threshold.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evidence is limited by the size and provenance of the cohort, the generated benign workload mix, and metadata-derived malware categories. The study does not yet validate network features against a live P4 target and should not be presented as field performance. The next experiment should increase independent malware signatures and benign environments, verify behaviors where possible, and compare packet-capture-derived network counters with a running P4 pipeline.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committed feature matrix is sufficient to rerun training, out-of-fold scoring, and category analysis without rerunning malware. The walkthrough document is the detailed narrative and includes exact commands, caveats, and a full artifact map. Raw malware, packet captures, per-run VM outputs, and detailed event-level collector streams are excluded. Close with the proposed next steps and invite questions about group splits, label provenance, and the distinction between PCAP aggregates and live P4 measurements.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F302E"/>
        </a:solidFill>
        <a:effectLst/>
      </p:bgPr>
    </p:bg>
    <p:spTree>
      <p:nvGrpSpPr>
        <p:cNvPr id="1" name=""/>
        <p:cNvGrpSpPr/>
        <p:nvPr/>
      </p:nvGrpSpPr>
      <p:grpSpPr/>
      <p:sp>
        <p:nvSpPr>
          <p:cNvPr id="2" name="Rectangle 1"/>
          <p:cNvSpPr/>
          <p:nvPr/>
        </p:nvSpPr>
        <p:spPr>
          <a:xfrm>
            <a:off x="8887968" y="0"/>
            <a:ext cx="3300984" cy="6858000"/>
          </a:xfrm>
          <a:prstGeom prst="rect">
            <a:avLst/>
          </a:prstGeom>
          <a:solidFill>
            <a:srgbClr val="2D74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363456" y="713232"/>
            <a:ext cx="2176272" cy="1143000"/>
          </a:xfrm>
          <a:prstGeom prst="roundRect">
            <a:avLst>
              <a:gd name="adj" fmla="val 8000"/>
            </a:avLst>
          </a:prstGeom>
          <a:solidFill>
            <a:srgbClr val="418C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893808" y="2148840"/>
            <a:ext cx="1645920" cy="1143000"/>
          </a:xfrm>
          <a:prstGeom prst="roundRect">
            <a:avLst>
              <a:gd name="adj" fmla="val 8000"/>
            </a:avLst>
          </a:prstGeom>
          <a:solidFill>
            <a:srgbClr val="C995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098280" y="3584448"/>
            <a:ext cx="2441448" cy="1143000"/>
          </a:xfrm>
          <a:prstGeom prst="roundRect">
            <a:avLst>
              <a:gd name="adj" fmla="val 8000"/>
            </a:avLst>
          </a:prstGeom>
          <a:solidFill>
            <a:srgbClr val="D767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9808" y="676656"/>
            <a:ext cx="7498079" cy="320040"/>
          </a:xfrm>
          <a:prstGeom prst="rect">
            <a:avLst/>
          </a:prstGeom>
          <a:noFill/>
        </p:spPr>
        <p:txBody>
          <a:bodyPr wrap="square" lIns="27432" rIns="27432" tIns="27432" bIns="27432" anchor="t">
            <a:spAutoFit/>
          </a:bodyPr>
          <a:lstStyle/>
          <a:p>
            <a:pPr algn="l">
              <a:spcAft>
                <a:spcPts val="300"/>
              </a:spcAft>
              <a:defRPr sz="1000" b="1">
                <a:solidFill>
                  <a:srgbClr val="BFD1C7"/>
                </a:solidFill>
                <a:latin typeface="DejaVu Sans"/>
              </a:defRPr>
            </a:pPr>
            <a:r>
              <a:t>RESEARCH PRESENTATION  /  15 OCTOBER 2026</a:t>
            </a:r>
          </a:p>
        </p:txBody>
      </p:sp>
      <p:sp>
        <p:nvSpPr>
          <p:cNvPr id="7" name="TextBox 6"/>
          <p:cNvSpPr txBox="1"/>
          <p:nvPr/>
        </p:nvSpPr>
        <p:spPr>
          <a:xfrm>
            <a:off x="749808" y="1444752"/>
            <a:ext cx="7543800" cy="1389888"/>
          </a:xfrm>
          <a:prstGeom prst="rect">
            <a:avLst/>
          </a:prstGeom>
          <a:noFill/>
        </p:spPr>
        <p:txBody>
          <a:bodyPr wrap="square" lIns="27432" rIns="27432" tIns="27432" bIns="27432" anchor="t">
            <a:spAutoFit/>
          </a:bodyPr>
          <a:lstStyle/>
          <a:p>
            <a:pPr algn="l">
              <a:spcAft>
                <a:spcPts val="300"/>
              </a:spcAft>
              <a:defRPr sz="3400" b="1">
                <a:solidFill>
                  <a:srgbClr val="FFFFFF"/>
                </a:solidFill>
                <a:latin typeface="DejaVu Sans"/>
              </a:defRPr>
            </a:pPr>
            <a:r>
              <a:t>Hybrid Malware</a:t>
            </a:r>
          </a:p>
          <a:p>
            <a:pPr algn="l">
              <a:spcAft>
                <a:spcPts val="300"/>
              </a:spcAft>
              <a:defRPr sz="3400" b="1">
                <a:solidFill>
                  <a:srgbClr val="FFFFFF"/>
                </a:solidFill>
                <a:latin typeface="DejaVu Sans"/>
              </a:defRPr>
            </a:pPr>
            <a:r>
              <a:t>Detection</a:t>
            </a:r>
          </a:p>
        </p:txBody>
      </p:sp>
      <p:sp>
        <p:nvSpPr>
          <p:cNvPr id="8" name="TextBox 7"/>
          <p:cNvSpPr txBox="1"/>
          <p:nvPr/>
        </p:nvSpPr>
        <p:spPr>
          <a:xfrm>
            <a:off x="777240" y="3154680"/>
            <a:ext cx="7086600" cy="804672"/>
          </a:xfrm>
          <a:prstGeom prst="rect">
            <a:avLst/>
          </a:prstGeom>
          <a:noFill/>
        </p:spPr>
        <p:txBody>
          <a:bodyPr wrap="square" lIns="27432" rIns="27432" tIns="27432" bIns="27432" anchor="t">
            <a:spAutoFit/>
          </a:bodyPr>
          <a:lstStyle/>
          <a:p>
            <a:pPr algn="l">
              <a:spcAft>
                <a:spcPts val="300"/>
              </a:spcAft>
              <a:defRPr sz="1900" b="0">
                <a:solidFill>
                  <a:srgbClr val="E0E8E3"/>
                </a:solidFill>
                <a:latin typeface="DejaVu Sans"/>
              </a:defRPr>
            </a:pPr>
            <a:r>
              <a:t>Comparing network telemetry, host eBPF, and their combination</a:t>
            </a:r>
          </a:p>
        </p:txBody>
      </p:sp>
      <p:cxnSp>
        <p:nvCxnSpPr>
          <p:cNvPr id="9" name="Connector 8"/>
          <p:cNvCxnSpPr/>
          <p:nvPr/>
        </p:nvCxnSpPr>
        <p:spPr>
          <a:xfrm>
            <a:off x="777240" y="5166360"/>
            <a:ext cx="6629400" cy="0"/>
          </a:xfrm>
          <a:prstGeom prst="line">
            <a:avLst/>
          </a:prstGeom>
          <a:ln w="12700">
            <a:solidFill>
              <a:srgbClr val="5D766D"/>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777240" y="5440680"/>
            <a:ext cx="7132320" cy="566928"/>
          </a:xfrm>
          <a:prstGeom prst="rect">
            <a:avLst/>
          </a:prstGeom>
          <a:noFill/>
        </p:spPr>
        <p:txBody>
          <a:bodyPr wrap="square" lIns="27432" rIns="27432" tIns="27432" bIns="27432" anchor="t">
            <a:spAutoFit/>
          </a:bodyPr>
          <a:lstStyle/>
          <a:p>
            <a:pPr algn="l">
              <a:spcAft>
                <a:spcPts val="300"/>
              </a:spcAft>
              <a:defRPr sz="1200" b="0">
                <a:solidFill>
                  <a:srgbClr val="BFD1C7"/>
                </a:solidFill>
                <a:latin typeface="DejaVu Sans"/>
              </a:defRPr>
            </a:pPr>
            <a:r>
              <a:t>224 malware samples  ·  138 benign controls  ·  grouped out-of-fold evaluation</a:t>
            </a:r>
          </a:p>
        </p:txBody>
      </p:sp>
      <p:sp>
        <p:nvSpPr>
          <p:cNvPr id="11" name="TextBox 10"/>
          <p:cNvSpPr txBox="1"/>
          <p:nvPr/>
        </p:nvSpPr>
        <p:spPr>
          <a:xfrm>
            <a:off x="777240" y="6263640"/>
            <a:ext cx="7223760" cy="256032"/>
          </a:xfrm>
          <a:prstGeom prst="rect">
            <a:avLst/>
          </a:prstGeom>
          <a:noFill/>
        </p:spPr>
        <p:txBody>
          <a:bodyPr wrap="square" lIns="27432" rIns="27432" tIns="27432" bIns="27432" anchor="t">
            <a:spAutoFit/>
          </a:bodyPr>
          <a:lstStyle/>
          <a:p>
            <a:pPr algn="l">
              <a:spcAft>
                <a:spcPts val="300"/>
              </a:spcAft>
              <a:defRPr sz="900" b="0">
                <a:solidFill>
                  <a:srgbClr val="AABCB4"/>
                </a:solidFill>
                <a:latin typeface="DejaVu Sans"/>
              </a:defRPr>
            </a:pPr>
            <a:r>
              <a:t>P4 + eBPF research project  |  Dataset study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F4EF"/>
        </a:solidFill>
        <a:effectLst/>
      </p:bgPr>
    </p:bg>
    <p:spTree>
      <p:nvGrpSpPr>
        <p:cNvPr id="1" name=""/>
        <p:cNvGrpSpPr/>
        <p:nvPr/>
      </p:nvGrpSpPr>
      <p:grpSpPr/>
      <p:sp>
        <p:nvSpPr>
          <p:cNvPr id="2" name="TextBox 1"/>
          <p:cNvSpPr txBox="1"/>
          <p:nvPr/>
        </p:nvSpPr>
        <p:spPr>
          <a:xfrm>
            <a:off x="603504" y="310896"/>
            <a:ext cx="8961120" cy="256032"/>
          </a:xfrm>
          <a:prstGeom prst="rect">
            <a:avLst/>
          </a:prstGeom>
          <a:noFill/>
        </p:spPr>
        <p:txBody>
          <a:bodyPr wrap="square" lIns="27432" rIns="27432" tIns="27432" bIns="27432" anchor="t">
            <a:spAutoFit/>
          </a:bodyPr>
          <a:lstStyle/>
          <a:p>
            <a:pPr algn="l">
              <a:spcAft>
                <a:spcPts val="300"/>
              </a:spcAft>
              <a:defRPr sz="900" b="1">
                <a:solidFill>
                  <a:srgbClr val="2D745C"/>
                </a:solidFill>
                <a:latin typeface="DejaVu Sans"/>
              </a:defRPr>
            </a:pPr>
            <a:r>
              <a:t>01 / QUESTION</a:t>
            </a:r>
          </a:p>
        </p:txBody>
      </p:sp>
      <p:sp>
        <p:nvSpPr>
          <p:cNvPr id="3" name="TextBox 2"/>
          <p:cNvSpPr txBox="1"/>
          <p:nvPr/>
        </p:nvSpPr>
        <p:spPr>
          <a:xfrm>
            <a:off x="603504" y="658368"/>
            <a:ext cx="10927080" cy="502920"/>
          </a:xfrm>
          <a:prstGeom prst="rect">
            <a:avLst/>
          </a:prstGeom>
          <a:noFill/>
        </p:spPr>
        <p:txBody>
          <a:bodyPr wrap="square" lIns="27432" rIns="27432" tIns="27432" bIns="27432" anchor="t">
            <a:spAutoFit/>
          </a:bodyPr>
          <a:lstStyle/>
          <a:p>
            <a:pPr algn="l">
              <a:spcAft>
                <a:spcPts val="300"/>
              </a:spcAft>
              <a:defRPr sz="2500" b="1">
                <a:solidFill>
                  <a:srgbClr val="1F302E"/>
                </a:solidFill>
                <a:latin typeface="DejaVu Sans"/>
              </a:defRPr>
            </a:pPr>
            <a:r>
              <a:t>Do two sensor views add useful evidence?</a:t>
            </a:r>
          </a:p>
        </p:txBody>
      </p:sp>
      <p:cxnSp>
        <p:nvCxnSpPr>
          <p:cNvPr id="4" name="Connector 3"/>
          <p:cNvCxnSpPr/>
          <p:nvPr/>
        </p:nvCxnSpPr>
        <p:spPr>
          <a:xfrm>
            <a:off x="603504" y="1307592"/>
            <a:ext cx="10972800" cy="0"/>
          </a:xfrm>
          <a:prstGeom prst="line">
            <a:avLst/>
          </a:prstGeom>
          <a:ln w="12700">
            <a:solidFill>
              <a:srgbClr val="D9E0DB"/>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603504" y="6455664"/>
            <a:ext cx="10972800" cy="0"/>
          </a:xfrm>
          <a:prstGeom prst="line">
            <a:avLst/>
          </a:prstGeom>
          <a:ln w="8890">
            <a:solidFill>
              <a:srgbClr val="D9E0DB"/>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21792" y="6492240"/>
            <a:ext cx="10241280" cy="173736"/>
          </a:xfrm>
          <a:prstGeom prst="rect">
            <a:avLst/>
          </a:prstGeom>
          <a:noFill/>
        </p:spPr>
        <p:txBody>
          <a:bodyPr wrap="square" lIns="27432" rIns="27432" tIns="27432" bIns="27432" anchor="t">
            <a:spAutoFit/>
          </a:bodyPr>
          <a:lstStyle/>
          <a:p>
            <a:pPr algn="l">
              <a:spcAft>
                <a:spcPts val="300"/>
              </a:spcAft>
              <a:defRPr sz="730" b="0">
                <a:solidFill>
                  <a:srgbClr val="61716D"/>
                </a:solidFill>
                <a:latin typeface="DejaVu Sans"/>
              </a:defRPr>
            </a:pPr>
            <a:r>
              <a:t>Source: docs/STUDY_WALKTHROUGH.md</a:t>
            </a:r>
          </a:p>
        </p:txBody>
      </p:sp>
      <p:sp>
        <p:nvSpPr>
          <p:cNvPr id="7" name="TextBox 6"/>
          <p:cNvSpPr txBox="1"/>
          <p:nvPr/>
        </p:nvSpPr>
        <p:spPr>
          <a:xfrm>
            <a:off x="10991088" y="6473952"/>
            <a:ext cx="530352" cy="182880"/>
          </a:xfrm>
          <a:prstGeom prst="rect">
            <a:avLst/>
          </a:prstGeom>
          <a:noFill/>
        </p:spPr>
        <p:txBody>
          <a:bodyPr wrap="square" lIns="27432" rIns="27432" tIns="27432" bIns="27432" anchor="t">
            <a:spAutoFit/>
          </a:bodyPr>
          <a:lstStyle/>
          <a:p>
            <a:pPr algn="r">
              <a:spcAft>
                <a:spcPts val="300"/>
              </a:spcAft>
              <a:defRPr sz="800" b="0">
                <a:solidFill>
                  <a:srgbClr val="61716D"/>
                </a:solidFill>
                <a:latin typeface="DejaVu Sans"/>
              </a:defRPr>
            </a:pPr>
            <a:r>
              <a:t>02</a:t>
            </a:r>
          </a:p>
        </p:txBody>
      </p:sp>
      <p:sp>
        <p:nvSpPr>
          <p:cNvPr id="8" name="Rounded Rectangle 7"/>
          <p:cNvSpPr/>
          <p:nvPr/>
        </p:nvSpPr>
        <p:spPr>
          <a:xfrm>
            <a:off x="749808" y="1700784"/>
            <a:ext cx="3401568" cy="2011680"/>
          </a:xfrm>
          <a:prstGeom prst="roundRect">
            <a:avLst>
              <a:gd name="adj" fmla="val 8000"/>
            </a:avLst>
          </a:prstGeom>
          <a:solidFill>
            <a:srgbClr val="E2EF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49808" y="1700784"/>
            <a:ext cx="64008" cy="2011680"/>
          </a:xfrm>
          <a:prstGeom prst="rect">
            <a:avLst/>
          </a:prstGeom>
          <a:solidFill>
            <a:srgbClr val="418C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1865376"/>
            <a:ext cx="3017520" cy="310896"/>
          </a:xfrm>
          <a:prstGeom prst="rect">
            <a:avLst/>
          </a:prstGeom>
          <a:noFill/>
        </p:spPr>
        <p:txBody>
          <a:bodyPr wrap="square" lIns="27432" rIns="27432" tIns="27432" bIns="27432" anchor="t">
            <a:spAutoFit/>
          </a:bodyPr>
          <a:lstStyle/>
          <a:p>
            <a:pPr algn="l">
              <a:spcAft>
                <a:spcPts val="300"/>
              </a:spcAft>
              <a:defRPr sz="1300" b="1">
                <a:solidFill>
                  <a:srgbClr val="418C98"/>
                </a:solidFill>
                <a:latin typeface="DejaVu Sans"/>
              </a:defRPr>
            </a:pPr>
            <a:r>
              <a:t>NETWORK</a:t>
            </a:r>
          </a:p>
        </p:txBody>
      </p:sp>
      <p:sp>
        <p:nvSpPr>
          <p:cNvPr id="11" name="TextBox 10"/>
          <p:cNvSpPr txBox="1"/>
          <p:nvPr/>
        </p:nvSpPr>
        <p:spPr>
          <a:xfrm>
            <a:off x="960120" y="2249424"/>
            <a:ext cx="3017520" cy="1316736"/>
          </a:xfrm>
          <a:prstGeom prst="rect">
            <a:avLst/>
          </a:prstGeom>
          <a:noFill/>
        </p:spPr>
        <p:txBody>
          <a:bodyPr wrap="square" lIns="27432" rIns="27432" tIns="27432" bIns="27432" anchor="t">
            <a:spAutoFit/>
          </a:bodyPr>
          <a:lstStyle/>
          <a:p>
            <a:pPr algn="l">
              <a:spcAft>
                <a:spcPts val="300"/>
              </a:spcAft>
              <a:defRPr sz="1200" b="0">
                <a:solidFill>
                  <a:srgbClr val="1F302E"/>
                </a:solidFill>
                <a:latin typeface="DejaVu Sans"/>
              </a:defRPr>
            </a:pPr>
            <a:r>
              <a:t>What crossed the interface?</a:t>
            </a:r>
          </a:p>
          <a:p>
            <a:pPr algn="l">
              <a:spcAft>
                <a:spcPts val="300"/>
              </a:spcAft>
              <a:defRPr sz="1200" b="0">
                <a:solidFill>
                  <a:srgbClr val="1F302E"/>
                </a:solidFill>
                <a:latin typeface="DejaVu Sans"/>
              </a:defRPr>
            </a:pPr>
          </a:p>
          <a:p>
            <a:pPr algn="l">
              <a:spcAft>
                <a:spcPts val="300"/>
              </a:spcAft>
              <a:defRPr sz="1200" b="0">
                <a:solidFill>
                  <a:srgbClr val="1F302E"/>
                </a:solidFill>
                <a:latin typeface="DejaVu Sans"/>
              </a:defRPr>
            </a:pPr>
            <a:r>
              <a:t>Packet counts, bytes, rates, and flow summaries.</a:t>
            </a:r>
          </a:p>
        </p:txBody>
      </p:sp>
      <p:sp>
        <p:nvSpPr>
          <p:cNvPr id="12" name="Rounded Rectangle 11"/>
          <p:cNvSpPr/>
          <p:nvPr/>
        </p:nvSpPr>
        <p:spPr>
          <a:xfrm>
            <a:off x="4389120" y="1700784"/>
            <a:ext cx="3401568" cy="2011680"/>
          </a:xfrm>
          <a:prstGeom prst="roundRect">
            <a:avLst>
              <a:gd name="adj" fmla="val 8000"/>
            </a:avLst>
          </a:prstGeom>
          <a:solidFill>
            <a:srgbClr val="E2E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89120" y="1700784"/>
            <a:ext cx="64008" cy="2011680"/>
          </a:xfrm>
          <a:prstGeom prst="rect">
            <a:avLst/>
          </a:prstGeom>
          <a:solidFill>
            <a:srgbClr val="2D74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99432" y="1865376"/>
            <a:ext cx="3017520" cy="310896"/>
          </a:xfrm>
          <a:prstGeom prst="rect">
            <a:avLst/>
          </a:prstGeom>
          <a:noFill/>
        </p:spPr>
        <p:txBody>
          <a:bodyPr wrap="square" lIns="27432" rIns="27432" tIns="27432" bIns="27432" anchor="t">
            <a:spAutoFit/>
          </a:bodyPr>
          <a:lstStyle/>
          <a:p>
            <a:pPr algn="l">
              <a:spcAft>
                <a:spcPts val="300"/>
              </a:spcAft>
              <a:defRPr sz="1300" b="1">
                <a:solidFill>
                  <a:srgbClr val="2D745C"/>
                </a:solidFill>
                <a:latin typeface="DejaVu Sans"/>
              </a:defRPr>
            </a:pPr>
            <a:r>
              <a:t>HOST / eBPF</a:t>
            </a:r>
          </a:p>
        </p:txBody>
      </p:sp>
      <p:sp>
        <p:nvSpPr>
          <p:cNvPr id="15" name="TextBox 14"/>
          <p:cNvSpPr txBox="1"/>
          <p:nvPr/>
        </p:nvSpPr>
        <p:spPr>
          <a:xfrm>
            <a:off x="4599432" y="2249424"/>
            <a:ext cx="3017520" cy="1316736"/>
          </a:xfrm>
          <a:prstGeom prst="rect">
            <a:avLst/>
          </a:prstGeom>
          <a:noFill/>
        </p:spPr>
        <p:txBody>
          <a:bodyPr wrap="square" lIns="27432" rIns="27432" tIns="27432" bIns="27432" anchor="t">
            <a:spAutoFit/>
          </a:bodyPr>
          <a:lstStyle/>
          <a:p>
            <a:pPr algn="l">
              <a:spcAft>
                <a:spcPts val="300"/>
              </a:spcAft>
              <a:defRPr sz="1200" b="0">
                <a:solidFill>
                  <a:srgbClr val="1F302E"/>
                </a:solidFill>
                <a:latin typeface="DejaVu Sans"/>
              </a:defRPr>
            </a:pPr>
            <a:r>
              <a:t>What did the process do?</a:t>
            </a:r>
          </a:p>
          <a:p>
            <a:pPr algn="l">
              <a:spcAft>
                <a:spcPts val="300"/>
              </a:spcAft>
              <a:defRPr sz="1200" b="0">
                <a:solidFill>
                  <a:srgbClr val="1F302E"/>
                </a:solidFill>
                <a:latin typeface="DejaVu Sans"/>
              </a:defRPr>
            </a:pPr>
          </a:p>
          <a:p>
            <a:pPr algn="l">
              <a:spcAft>
                <a:spcPts val="300"/>
              </a:spcAft>
              <a:defRPr sz="1200" b="0">
                <a:solidFill>
                  <a:srgbClr val="1F302E"/>
                </a:solidFill>
                <a:latin typeface="DejaVu Sans"/>
              </a:defRPr>
            </a:pPr>
            <a:r>
              <a:t>Selected socket, open, and write syscall counters.</a:t>
            </a:r>
          </a:p>
        </p:txBody>
      </p:sp>
      <p:sp>
        <p:nvSpPr>
          <p:cNvPr id="16" name="Rounded Rectangle 15"/>
          <p:cNvSpPr/>
          <p:nvPr/>
        </p:nvSpPr>
        <p:spPr>
          <a:xfrm>
            <a:off x="8028431" y="1700784"/>
            <a:ext cx="3401568" cy="2011680"/>
          </a:xfrm>
          <a:prstGeom prst="roundRect">
            <a:avLst>
              <a:gd name="adj" fmla="val 8000"/>
            </a:avLst>
          </a:prstGeom>
          <a:solidFill>
            <a:srgbClr val="F5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28431" y="1700784"/>
            <a:ext cx="64008" cy="2011680"/>
          </a:xfrm>
          <a:prstGeom prst="rect">
            <a:avLst/>
          </a:prstGeom>
          <a:solidFill>
            <a:srgbClr val="D767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38744" y="1865376"/>
            <a:ext cx="3017520" cy="310896"/>
          </a:xfrm>
          <a:prstGeom prst="rect">
            <a:avLst/>
          </a:prstGeom>
          <a:noFill/>
        </p:spPr>
        <p:txBody>
          <a:bodyPr wrap="square" lIns="27432" rIns="27432" tIns="27432" bIns="27432" anchor="t">
            <a:spAutoFit/>
          </a:bodyPr>
          <a:lstStyle/>
          <a:p>
            <a:pPr algn="l">
              <a:spcAft>
                <a:spcPts val="300"/>
              </a:spcAft>
              <a:defRPr sz="1300" b="1">
                <a:solidFill>
                  <a:srgbClr val="D76751"/>
                </a:solidFill>
                <a:latin typeface="DejaVu Sans"/>
              </a:defRPr>
            </a:pPr>
            <a:r>
              <a:t>HYBRID</a:t>
            </a:r>
          </a:p>
        </p:txBody>
      </p:sp>
      <p:sp>
        <p:nvSpPr>
          <p:cNvPr id="19" name="TextBox 18"/>
          <p:cNvSpPr txBox="1"/>
          <p:nvPr/>
        </p:nvSpPr>
        <p:spPr>
          <a:xfrm>
            <a:off x="8238744" y="2249424"/>
            <a:ext cx="3017520" cy="1316736"/>
          </a:xfrm>
          <a:prstGeom prst="rect">
            <a:avLst/>
          </a:prstGeom>
          <a:noFill/>
        </p:spPr>
        <p:txBody>
          <a:bodyPr wrap="square" lIns="27432" rIns="27432" tIns="27432" bIns="27432" anchor="t">
            <a:spAutoFit/>
          </a:bodyPr>
          <a:lstStyle/>
          <a:p>
            <a:pPr algn="l">
              <a:spcAft>
                <a:spcPts val="300"/>
              </a:spcAft>
              <a:defRPr sz="1200" b="0">
                <a:solidFill>
                  <a:srgbClr val="1F302E"/>
                </a:solidFill>
                <a:latin typeface="DejaVu Sans"/>
              </a:defRPr>
            </a:pPr>
            <a:r>
              <a:t>Does the joint view help?</a:t>
            </a:r>
          </a:p>
          <a:p>
            <a:pPr algn="l">
              <a:spcAft>
                <a:spcPts val="300"/>
              </a:spcAft>
              <a:defRPr sz="1200" b="0">
                <a:solidFill>
                  <a:srgbClr val="1F302E"/>
                </a:solidFill>
                <a:latin typeface="DejaVu Sans"/>
              </a:defRPr>
            </a:pPr>
          </a:p>
          <a:p>
            <a:pPr algn="l">
              <a:spcAft>
                <a:spcPts val="300"/>
              </a:spcAft>
              <a:defRPr sz="1200" b="0">
                <a:solidFill>
                  <a:srgbClr val="1F302E"/>
                </a:solidFill>
                <a:latin typeface="DejaVu Sans"/>
              </a:defRPr>
            </a:pPr>
            <a:r>
              <a:t>Both sensor sets, evaluated on the same samples.</a:t>
            </a:r>
          </a:p>
        </p:txBody>
      </p:sp>
      <p:sp>
        <p:nvSpPr>
          <p:cNvPr id="20" name="TextBox 19"/>
          <p:cNvSpPr txBox="1"/>
          <p:nvPr/>
        </p:nvSpPr>
        <p:spPr>
          <a:xfrm>
            <a:off x="841248" y="4279392"/>
            <a:ext cx="10515600" cy="548640"/>
          </a:xfrm>
          <a:prstGeom prst="rect">
            <a:avLst/>
          </a:prstGeom>
          <a:noFill/>
        </p:spPr>
        <p:txBody>
          <a:bodyPr wrap="square" lIns="27432" rIns="27432" tIns="27432" bIns="27432" anchor="t">
            <a:spAutoFit/>
          </a:bodyPr>
          <a:lstStyle/>
          <a:p>
            <a:pPr algn="ctr">
              <a:spcAft>
                <a:spcPts val="300"/>
              </a:spcAft>
              <a:defRPr sz="1800" b="1">
                <a:solidFill>
                  <a:srgbClr val="1F302E"/>
                </a:solidFill>
                <a:latin typeface="DejaVu Sans"/>
              </a:defRPr>
            </a:pPr>
            <a:r>
              <a:t>Primary outcome: malware-versus-benign discrimination, not family classification.</a:t>
            </a:r>
          </a:p>
        </p:txBody>
      </p:sp>
      <p:sp>
        <p:nvSpPr>
          <p:cNvPr id="21" name="TextBox 20"/>
          <p:cNvSpPr txBox="1"/>
          <p:nvPr/>
        </p:nvSpPr>
        <p:spPr>
          <a:xfrm>
            <a:off x="1005840" y="5010912"/>
            <a:ext cx="10149840" cy="438912"/>
          </a:xfrm>
          <a:prstGeom prst="rect">
            <a:avLst/>
          </a:prstGeom>
          <a:noFill/>
        </p:spPr>
        <p:txBody>
          <a:bodyPr wrap="square" lIns="27432" rIns="27432" tIns="27432" bIns="27432" anchor="t">
            <a:spAutoFit/>
          </a:bodyPr>
          <a:lstStyle/>
          <a:p>
            <a:pPr algn="ctr">
              <a:spcAft>
                <a:spcPts val="300"/>
              </a:spcAft>
              <a:defRPr sz="1200" b="0">
                <a:solidFill>
                  <a:srgbClr val="61716D"/>
                </a:solidFill>
                <a:latin typeface="DejaVu Sans"/>
              </a:defRPr>
            </a:pPr>
            <a:r>
              <a:t>Same cohort  ·  Same grouped folds  ·  45 / 45 / 90 model features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4F4EF"/>
        </a:solidFill>
        <a:effectLst/>
      </p:bgPr>
    </p:bg>
    <p:spTree>
      <p:nvGrpSpPr>
        <p:cNvPr id="1" name=""/>
        <p:cNvGrpSpPr/>
        <p:nvPr/>
      </p:nvGrpSpPr>
      <p:grpSpPr/>
      <p:sp>
        <p:nvSpPr>
          <p:cNvPr id="2" name="TextBox 1"/>
          <p:cNvSpPr txBox="1"/>
          <p:nvPr/>
        </p:nvSpPr>
        <p:spPr>
          <a:xfrm>
            <a:off x="603504" y="310896"/>
            <a:ext cx="8961120" cy="256032"/>
          </a:xfrm>
          <a:prstGeom prst="rect">
            <a:avLst/>
          </a:prstGeom>
          <a:noFill/>
        </p:spPr>
        <p:txBody>
          <a:bodyPr wrap="square" lIns="27432" rIns="27432" tIns="27432" bIns="27432" anchor="t">
            <a:spAutoFit/>
          </a:bodyPr>
          <a:lstStyle/>
          <a:p>
            <a:pPr algn="l">
              <a:spcAft>
                <a:spcPts val="300"/>
              </a:spcAft>
              <a:defRPr sz="900" b="1">
                <a:solidFill>
                  <a:srgbClr val="2D745C"/>
                </a:solidFill>
                <a:latin typeface="DejaVu Sans"/>
              </a:defRPr>
            </a:pPr>
            <a:r>
              <a:t>02 / COHORT</a:t>
            </a:r>
          </a:p>
        </p:txBody>
      </p:sp>
      <p:sp>
        <p:nvSpPr>
          <p:cNvPr id="3" name="TextBox 2"/>
          <p:cNvSpPr txBox="1"/>
          <p:nvPr/>
        </p:nvSpPr>
        <p:spPr>
          <a:xfrm>
            <a:off x="603504" y="658368"/>
            <a:ext cx="10927080" cy="502920"/>
          </a:xfrm>
          <a:prstGeom prst="rect">
            <a:avLst/>
          </a:prstGeom>
          <a:noFill/>
        </p:spPr>
        <p:txBody>
          <a:bodyPr wrap="square" lIns="27432" rIns="27432" tIns="27432" bIns="27432" anchor="t">
            <a:spAutoFit/>
          </a:bodyPr>
          <a:lstStyle/>
          <a:p>
            <a:pPr algn="l">
              <a:spcAft>
                <a:spcPts val="300"/>
              </a:spcAft>
              <a:defRPr sz="2500" b="1">
                <a:solidFill>
                  <a:srgbClr val="1F302E"/>
                </a:solidFill>
                <a:latin typeface="DejaVu Sans"/>
              </a:defRPr>
            </a:pPr>
            <a:r>
              <a:t>From acquisitions to the evaluated cohort</a:t>
            </a:r>
          </a:p>
        </p:txBody>
      </p:sp>
      <p:cxnSp>
        <p:nvCxnSpPr>
          <p:cNvPr id="4" name="Connector 3"/>
          <p:cNvCxnSpPr/>
          <p:nvPr/>
        </p:nvCxnSpPr>
        <p:spPr>
          <a:xfrm>
            <a:off x="603504" y="1307592"/>
            <a:ext cx="10972800" cy="0"/>
          </a:xfrm>
          <a:prstGeom prst="line">
            <a:avLst/>
          </a:prstGeom>
          <a:ln w="12700">
            <a:solidFill>
              <a:srgbClr val="D9E0DB"/>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603504" y="6455664"/>
            <a:ext cx="10972800" cy="0"/>
          </a:xfrm>
          <a:prstGeom prst="line">
            <a:avLst/>
          </a:prstGeom>
          <a:ln w="8890">
            <a:solidFill>
              <a:srgbClr val="D9E0DB"/>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21792" y="6492240"/>
            <a:ext cx="10241280" cy="173736"/>
          </a:xfrm>
          <a:prstGeom prst="rect">
            <a:avLst/>
          </a:prstGeom>
          <a:noFill/>
        </p:spPr>
        <p:txBody>
          <a:bodyPr wrap="square" lIns="27432" rIns="27432" tIns="27432" bIns="27432" anchor="t">
            <a:spAutoFit/>
          </a:bodyPr>
          <a:lstStyle/>
          <a:p>
            <a:pPr algn="l">
              <a:spcAft>
                <a:spcPts val="300"/>
              </a:spcAft>
              <a:defRPr sz="730" b="0">
                <a:solidFill>
                  <a:srgbClr val="61716D"/>
                </a:solidFill>
                <a:latin typeface="DejaVu Sans"/>
              </a:defRPr>
            </a:pPr>
            <a:r>
              <a:t>Source: malware_sample_inventory_all_expansions_20261014.csv; current feature dataset</a:t>
            </a:r>
          </a:p>
        </p:txBody>
      </p:sp>
      <p:sp>
        <p:nvSpPr>
          <p:cNvPr id="7" name="TextBox 6"/>
          <p:cNvSpPr txBox="1"/>
          <p:nvPr/>
        </p:nvSpPr>
        <p:spPr>
          <a:xfrm>
            <a:off x="10991088" y="6473952"/>
            <a:ext cx="530352" cy="182880"/>
          </a:xfrm>
          <a:prstGeom prst="rect">
            <a:avLst/>
          </a:prstGeom>
          <a:noFill/>
        </p:spPr>
        <p:txBody>
          <a:bodyPr wrap="square" lIns="27432" rIns="27432" tIns="27432" bIns="27432" anchor="t">
            <a:spAutoFit/>
          </a:bodyPr>
          <a:lstStyle/>
          <a:p>
            <a:pPr algn="r">
              <a:spcAft>
                <a:spcPts val="300"/>
              </a:spcAft>
              <a:defRPr sz="800" b="0">
                <a:solidFill>
                  <a:srgbClr val="61716D"/>
                </a:solidFill>
                <a:latin typeface="DejaVu Sans"/>
              </a:defRPr>
            </a:pPr>
            <a:r>
              <a:t>03</a:t>
            </a:r>
          </a:p>
        </p:txBody>
      </p:sp>
      <p:sp>
        <p:nvSpPr>
          <p:cNvPr id="8" name="Rounded Rectangle 7"/>
          <p:cNvSpPr/>
          <p:nvPr/>
        </p:nvSpPr>
        <p:spPr>
          <a:xfrm>
            <a:off x="804672" y="1682496"/>
            <a:ext cx="2395728" cy="932688"/>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04672" y="1682496"/>
            <a:ext cx="64008" cy="932688"/>
          </a:xfrm>
          <a:prstGeom prst="rect">
            <a:avLst/>
          </a:prstGeom>
          <a:solidFill>
            <a:srgbClr val="C995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87552" y="1773936"/>
            <a:ext cx="2103120" cy="420624"/>
          </a:xfrm>
          <a:prstGeom prst="rect">
            <a:avLst/>
          </a:prstGeom>
          <a:noFill/>
        </p:spPr>
        <p:txBody>
          <a:bodyPr wrap="square" lIns="27432" rIns="27432" tIns="27432" bIns="27432" anchor="t">
            <a:spAutoFit/>
          </a:bodyPr>
          <a:lstStyle/>
          <a:p>
            <a:pPr algn="l">
              <a:spcAft>
                <a:spcPts val="300"/>
              </a:spcAft>
              <a:defRPr sz="2300" b="1">
                <a:solidFill>
                  <a:srgbClr val="C99537"/>
                </a:solidFill>
                <a:latin typeface="DejaVu Sans"/>
              </a:defRPr>
            </a:pPr>
            <a:r>
              <a:t>231</a:t>
            </a:r>
          </a:p>
        </p:txBody>
      </p:sp>
      <p:sp>
        <p:nvSpPr>
          <p:cNvPr id="11" name="TextBox 10"/>
          <p:cNvSpPr txBox="1"/>
          <p:nvPr/>
        </p:nvSpPr>
        <p:spPr>
          <a:xfrm>
            <a:off x="987552" y="2221992"/>
            <a:ext cx="2103120" cy="246888"/>
          </a:xfrm>
          <a:prstGeom prst="rect">
            <a:avLst/>
          </a:prstGeom>
          <a:noFill/>
        </p:spPr>
        <p:txBody>
          <a:bodyPr wrap="square" lIns="27432" rIns="27432" tIns="27432" bIns="27432" anchor="t">
            <a:spAutoFit/>
          </a:bodyPr>
          <a:lstStyle/>
          <a:p>
            <a:pPr algn="l">
              <a:spcAft>
                <a:spcPts val="300"/>
              </a:spcAft>
              <a:defRPr sz="1000" b="1">
                <a:solidFill>
                  <a:srgbClr val="61716D"/>
                </a:solidFill>
                <a:latin typeface="DejaVu Sans"/>
              </a:defRPr>
            </a:pPr>
            <a:r>
              <a:t>MALWARE ACQUISITIONS</a:t>
            </a:r>
          </a:p>
        </p:txBody>
      </p:sp>
      <p:sp>
        <p:nvSpPr>
          <p:cNvPr id="12" name="Rounded Rectangle 11"/>
          <p:cNvSpPr/>
          <p:nvPr/>
        </p:nvSpPr>
        <p:spPr>
          <a:xfrm>
            <a:off x="3337560" y="1682496"/>
            <a:ext cx="2395728" cy="932688"/>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337560" y="1682496"/>
            <a:ext cx="64008" cy="932688"/>
          </a:xfrm>
          <a:prstGeom prst="rect">
            <a:avLst/>
          </a:prstGeom>
          <a:solidFill>
            <a:srgbClr val="2D74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20440" y="1773936"/>
            <a:ext cx="2103120" cy="420624"/>
          </a:xfrm>
          <a:prstGeom prst="rect">
            <a:avLst/>
          </a:prstGeom>
          <a:noFill/>
        </p:spPr>
        <p:txBody>
          <a:bodyPr wrap="square" lIns="27432" rIns="27432" tIns="27432" bIns="27432" anchor="t">
            <a:spAutoFit/>
          </a:bodyPr>
          <a:lstStyle/>
          <a:p>
            <a:pPr algn="l">
              <a:spcAft>
                <a:spcPts val="300"/>
              </a:spcAft>
              <a:defRPr sz="2300" b="1">
                <a:solidFill>
                  <a:srgbClr val="2D745C"/>
                </a:solidFill>
                <a:latin typeface="DejaVu Sans"/>
              </a:defRPr>
            </a:pPr>
            <a:r>
              <a:t>224</a:t>
            </a:r>
          </a:p>
        </p:txBody>
      </p:sp>
      <p:sp>
        <p:nvSpPr>
          <p:cNvPr id="15" name="TextBox 14"/>
          <p:cNvSpPr txBox="1"/>
          <p:nvPr/>
        </p:nvSpPr>
        <p:spPr>
          <a:xfrm>
            <a:off x="3520440" y="2221992"/>
            <a:ext cx="2103120" cy="246888"/>
          </a:xfrm>
          <a:prstGeom prst="rect">
            <a:avLst/>
          </a:prstGeom>
          <a:noFill/>
        </p:spPr>
        <p:txBody>
          <a:bodyPr wrap="square" lIns="27432" rIns="27432" tIns="27432" bIns="27432" anchor="t">
            <a:spAutoFit/>
          </a:bodyPr>
          <a:lstStyle/>
          <a:p>
            <a:pPr algn="l">
              <a:spcAft>
                <a:spcPts val="300"/>
              </a:spcAft>
              <a:defRPr sz="1000" b="1">
                <a:solidFill>
                  <a:srgbClr val="61716D"/>
                </a:solidFill>
                <a:latin typeface="DejaVu Sans"/>
              </a:defRPr>
            </a:pPr>
            <a:r>
              <a:t>MALWARE MODELED</a:t>
            </a:r>
          </a:p>
        </p:txBody>
      </p:sp>
      <p:sp>
        <p:nvSpPr>
          <p:cNvPr id="16" name="Rounded Rectangle 15"/>
          <p:cNvSpPr/>
          <p:nvPr/>
        </p:nvSpPr>
        <p:spPr>
          <a:xfrm>
            <a:off x="5870448" y="1682496"/>
            <a:ext cx="2395728" cy="932688"/>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870448" y="1682496"/>
            <a:ext cx="64008" cy="932688"/>
          </a:xfrm>
          <a:prstGeom prst="rect">
            <a:avLst/>
          </a:prstGeom>
          <a:solidFill>
            <a:srgbClr val="D767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053328" y="1773936"/>
            <a:ext cx="2103120" cy="420624"/>
          </a:xfrm>
          <a:prstGeom prst="rect">
            <a:avLst/>
          </a:prstGeom>
          <a:noFill/>
        </p:spPr>
        <p:txBody>
          <a:bodyPr wrap="square" lIns="27432" rIns="27432" tIns="27432" bIns="27432" anchor="t">
            <a:spAutoFit/>
          </a:bodyPr>
          <a:lstStyle/>
          <a:p>
            <a:pPr algn="l">
              <a:spcAft>
                <a:spcPts val="300"/>
              </a:spcAft>
              <a:defRPr sz="2300" b="1">
                <a:solidFill>
                  <a:srgbClr val="D76751"/>
                </a:solidFill>
                <a:latin typeface="DejaVu Sans"/>
              </a:defRPr>
            </a:pPr>
            <a:r>
              <a:t>7</a:t>
            </a:r>
          </a:p>
        </p:txBody>
      </p:sp>
      <p:sp>
        <p:nvSpPr>
          <p:cNvPr id="19" name="TextBox 18"/>
          <p:cNvSpPr txBox="1"/>
          <p:nvPr/>
        </p:nvSpPr>
        <p:spPr>
          <a:xfrm>
            <a:off x="6053328" y="2221992"/>
            <a:ext cx="2103120" cy="246888"/>
          </a:xfrm>
          <a:prstGeom prst="rect">
            <a:avLst/>
          </a:prstGeom>
          <a:noFill/>
        </p:spPr>
        <p:txBody>
          <a:bodyPr wrap="square" lIns="27432" rIns="27432" tIns="27432" bIns="27432" anchor="t">
            <a:spAutoFit/>
          </a:bodyPr>
          <a:lstStyle/>
          <a:p>
            <a:pPr algn="l">
              <a:spcAft>
                <a:spcPts val="300"/>
              </a:spcAft>
              <a:defRPr sz="1000" b="1">
                <a:solidFill>
                  <a:srgbClr val="61716D"/>
                </a:solidFill>
                <a:latin typeface="DejaVu Sans"/>
              </a:defRPr>
            </a:pPr>
            <a:r>
              <a:t>NO USABLE TELEMETRY</a:t>
            </a:r>
          </a:p>
        </p:txBody>
      </p:sp>
      <p:sp>
        <p:nvSpPr>
          <p:cNvPr id="20" name="Rounded Rectangle 19"/>
          <p:cNvSpPr/>
          <p:nvPr/>
        </p:nvSpPr>
        <p:spPr>
          <a:xfrm>
            <a:off x="8403336" y="1682496"/>
            <a:ext cx="2834640" cy="932688"/>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403336" y="1682496"/>
            <a:ext cx="64008" cy="932688"/>
          </a:xfrm>
          <a:prstGeom prst="rect">
            <a:avLst/>
          </a:prstGeom>
          <a:solidFill>
            <a:srgbClr val="418C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86215" y="1773936"/>
            <a:ext cx="2542032" cy="420624"/>
          </a:xfrm>
          <a:prstGeom prst="rect">
            <a:avLst/>
          </a:prstGeom>
          <a:noFill/>
        </p:spPr>
        <p:txBody>
          <a:bodyPr wrap="square" lIns="27432" rIns="27432" tIns="27432" bIns="27432" anchor="t">
            <a:spAutoFit/>
          </a:bodyPr>
          <a:lstStyle/>
          <a:p>
            <a:pPr algn="l">
              <a:spcAft>
                <a:spcPts val="300"/>
              </a:spcAft>
              <a:defRPr sz="2300" b="1">
                <a:solidFill>
                  <a:srgbClr val="418C98"/>
                </a:solidFill>
                <a:latin typeface="DejaVu Sans"/>
              </a:defRPr>
            </a:pPr>
            <a:r>
              <a:t>138</a:t>
            </a:r>
          </a:p>
        </p:txBody>
      </p:sp>
      <p:sp>
        <p:nvSpPr>
          <p:cNvPr id="23" name="TextBox 22"/>
          <p:cNvSpPr txBox="1"/>
          <p:nvPr/>
        </p:nvSpPr>
        <p:spPr>
          <a:xfrm>
            <a:off x="8586215" y="2221992"/>
            <a:ext cx="2542032" cy="246888"/>
          </a:xfrm>
          <a:prstGeom prst="rect">
            <a:avLst/>
          </a:prstGeom>
          <a:noFill/>
        </p:spPr>
        <p:txBody>
          <a:bodyPr wrap="square" lIns="27432" rIns="27432" tIns="27432" bIns="27432" anchor="t">
            <a:spAutoFit/>
          </a:bodyPr>
          <a:lstStyle/>
          <a:p>
            <a:pPr algn="l">
              <a:spcAft>
                <a:spcPts val="300"/>
              </a:spcAft>
              <a:defRPr sz="1000" b="1">
                <a:solidFill>
                  <a:srgbClr val="61716D"/>
                </a:solidFill>
                <a:latin typeface="DejaVu Sans"/>
              </a:defRPr>
            </a:pPr>
            <a:r>
              <a:t>BENIGN CONTROLS</a:t>
            </a:r>
          </a:p>
        </p:txBody>
      </p:sp>
      <p:sp>
        <p:nvSpPr>
          <p:cNvPr id="24" name="Rounded Rectangle 23"/>
          <p:cNvSpPr/>
          <p:nvPr/>
        </p:nvSpPr>
        <p:spPr>
          <a:xfrm>
            <a:off x="932688" y="3063240"/>
            <a:ext cx="4718304" cy="1335024"/>
          </a:xfrm>
          <a:prstGeom prst="roundRect">
            <a:avLst>
              <a:gd name="adj" fmla="val 8000"/>
            </a:avLst>
          </a:prstGeom>
          <a:solidFill>
            <a:srgbClr val="E2E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216152" y="3319272"/>
            <a:ext cx="4169663" cy="356616"/>
          </a:xfrm>
          <a:prstGeom prst="rect">
            <a:avLst/>
          </a:prstGeom>
          <a:noFill/>
        </p:spPr>
        <p:txBody>
          <a:bodyPr wrap="square" lIns="27432" rIns="27432" tIns="27432" bIns="27432" anchor="t">
            <a:spAutoFit/>
          </a:bodyPr>
          <a:lstStyle/>
          <a:p>
            <a:pPr algn="ctr">
              <a:spcAft>
                <a:spcPts val="300"/>
              </a:spcAft>
              <a:defRPr sz="2300" b="1">
                <a:solidFill>
                  <a:srgbClr val="2D745C"/>
                </a:solidFill>
                <a:latin typeface="DejaVu Sans"/>
              </a:defRPr>
            </a:pPr>
            <a:r>
              <a:t>224 malware samples</a:t>
            </a:r>
          </a:p>
        </p:txBody>
      </p:sp>
      <p:sp>
        <p:nvSpPr>
          <p:cNvPr id="26" name="TextBox 25"/>
          <p:cNvSpPr txBox="1"/>
          <p:nvPr/>
        </p:nvSpPr>
        <p:spPr>
          <a:xfrm>
            <a:off x="1216152" y="3767328"/>
            <a:ext cx="4169663" cy="283464"/>
          </a:xfrm>
          <a:prstGeom prst="rect">
            <a:avLst/>
          </a:prstGeom>
          <a:noFill/>
        </p:spPr>
        <p:txBody>
          <a:bodyPr wrap="square" lIns="27432" rIns="27432" tIns="27432" bIns="27432" anchor="t">
            <a:spAutoFit/>
          </a:bodyPr>
          <a:lstStyle/>
          <a:p>
            <a:pPr algn="ctr">
              <a:spcAft>
                <a:spcPts val="300"/>
              </a:spcAft>
              <a:defRPr sz="1050" b="0">
                <a:solidFill>
                  <a:srgbClr val="61716D"/>
                </a:solidFill>
                <a:latin typeface="DejaVu Sans"/>
              </a:defRPr>
            </a:pPr>
            <a:r>
              <a:t>archived telemetry; included in training/evaluation</a:t>
            </a:r>
          </a:p>
        </p:txBody>
      </p:sp>
      <p:sp>
        <p:nvSpPr>
          <p:cNvPr id="27" name="TextBox 26"/>
          <p:cNvSpPr txBox="1"/>
          <p:nvPr/>
        </p:nvSpPr>
        <p:spPr>
          <a:xfrm>
            <a:off x="5742432" y="3392424"/>
            <a:ext cx="630936" cy="420624"/>
          </a:xfrm>
          <a:prstGeom prst="rect">
            <a:avLst/>
          </a:prstGeom>
          <a:noFill/>
        </p:spPr>
        <p:txBody>
          <a:bodyPr wrap="square" lIns="27432" rIns="27432" tIns="27432" bIns="27432" anchor="t">
            <a:spAutoFit/>
          </a:bodyPr>
          <a:lstStyle/>
          <a:p>
            <a:pPr algn="ctr">
              <a:spcAft>
                <a:spcPts val="300"/>
              </a:spcAft>
              <a:defRPr sz="2800" b="1">
                <a:solidFill>
                  <a:srgbClr val="61716D"/>
                </a:solidFill>
                <a:latin typeface="DejaVu Sans"/>
              </a:defRPr>
            </a:pPr>
            <a:r>
              <a:t>+</a:t>
            </a:r>
          </a:p>
        </p:txBody>
      </p:sp>
      <p:sp>
        <p:nvSpPr>
          <p:cNvPr id="28" name="Rounded Rectangle 27"/>
          <p:cNvSpPr/>
          <p:nvPr/>
        </p:nvSpPr>
        <p:spPr>
          <a:xfrm>
            <a:off x="6428232" y="3063240"/>
            <a:ext cx="4718304" cy="1335024"/>
          </a:xfrm>
          <a:prstGeom prst="roundRect">
            <a:avLst>
              <a:gd name="adj" fmla="val 8000"/>
            </a:avLst>
          </a:prstGeom>
          <a:solidFill>
            <a:srgbClr val="E2EF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711696" y="3319272"/>
            <a:ext cx="4169663" cy="356616"/>
          </a:xfrm>
          <a:prstGeom prst="rect">
            <a:avLst/>
          </a:prstGeom>
          <a:noFill/>
        </p:spPr>
        <p:txBody>
          <a:bodyPr wrap="square" lIns="27432" rIns="27432" tIns="27432" bIns="27432" anchor="t">
            <a:spAutoFit/>
          </a:bodyPr>
          <a:lstStyle/>
          <a:p>
            <a:pPr algn="ctr">
              <a:spcAft>
                <a:spcPts val="300"/>
              </a:spcAft>
              <a:defRPr sz="2300" b="1">
                <a:solidFill>
                  <a:srgbClr val="418C98"/>
                </a:solidFill>
                <a:latin typeface="DejaVu Sans"/>
              </a:defRPr>
            </a:pPr>
            <a:r>
              <a:t>138 benign workloads</a:t>
            </a:r>
          </a:p>
        </p:txBody>
      </p:sp>
      <p:sp>
        <p:nvSpPr>
          <p:cNvPr id="30" name="TextBox 29"/>
          <p:cNvSpPr txBox="1"/>
          <p:nvPr/>
        </p:nvSpPr>
        <p:spPr>
          <a:xfrm>
            <a:off x="6711696" y="3767328"/>
            <a:ext cx="4169663" cy="283464"/>
          </a:xfrm>
          <a:prstGeom prst="rect">
            <a:avLst/>
          </a:prstGeom>
          <a:noFill/>
        </p:spPr>
        <p:txBody>
          <a:bodyPr wrap="square" lIns="27432" rIns="27432" tIns="27432" bIns="27432" anchor="t">
            <a:spAutoFit/>
          </a:bodyPr>
          <a:lstStyle/>
          <a:p>
            <a:pPr algn="ctr">
              <a:spcAft>
                <a:spcPts val="300"/>
              </a:spcAft>
              <a:defRPr sz="1050" b="0">
                <a:solidFill>
                  <a:srgbClr val="61716D"/>
                </a:solidFill>
                <a:latin typeface="DejaVu Sans"/>
              </a:defRPr>
            </a:pPr>
            <a:r>
              <a:t>28 package-family groups</a:t>
            </a:r>
          </a:p>
        </p:txBody>
      </p:sp>
      <p:sp>
        <p:nvSpPr>
          <p:cNvPr id="31" name="TextBox 30"/>
          <p:cNvSpPr txBox="1"/>
          <p:nvPr/>
        </p:nvSpPr>
        <p:spPr>
          <a:xfrm>
            <a:off x="914400" y="4901184"/>
            <a:ext cx="10241280" cy="411480"/>
          </a:xfrm>
          <a:prstGeom prst="rect">
            <a:avLst/>
          </a:prstGeom>
          <a:noFill/>
        </p:spPr>
        <p:txBody>
          <a:bodyPr wrap="square" lIns="27432" rIns="27432" tIns="27432" bIns="27432" anchor="t">
            <a:spAutoFit/>
          </a:bodyPr>
          <a:lstStyle/>
          <a:p>
            <a:pPr algn="ctr">
              <a:spcAft>
                <a:spcPts val="300"/>
              </a:spcAft>
              <a:defRPr sz="1250" b="1">
                <a:solidFill>
                  <a:srgbClr val="1F302E"/>
                </a:solidFill>
                <a:latin typeface="DejaVu Sans"/>
              </a:defRPr>
            </a:pPr>
            <a:r>
              <a:t>362 total evaluated samples  |  Newest 42-sample batch: 38 captures, 4 collection failures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F4EF"/>
        </a:solidFill>
        <a:effectLst/>
      </p:bgPr>
    </p:bg>
    <p:spTree>
      <p:nvGrpSpPr>
        <p:cNvPr id="1" name=""/>
        <p:cNvGrpSpPr/>
        <p:nvPr/>
      </p:nvGrpSpPr>
      <p:grpSpPr/>
      <p:sp>
        <p:nvSpPr>
          <p:cNvPr id="2" name="TextBox 1"/>
          <p:cNvSpPr txBox="1"/>
          <p:nvPr/>
        </p:nvSpPr>
        <p:spPr>
          <a:xfrm>
            <a:off x="603504" y="310896"/>
            <a:ext cx="8961120" cy="256032"/>
          </a:xfrm>
          <a:prstGeom prst="rect">
            <a:avLst/>
          </a:prstGeom>
          <a:noFill/>
        </p:spPr>
        <p:txBody>
          <a:bodyPr wrap="square" lIns="27432" rIns="27432" tIns="27432" bIns="27432" anchor="t">
            <a:spAutoFit/>
          </a:bodyPr>
          <a:lstStyle/>
          <a:p>
            <a:pPr algn="l">
              <a:spcAft>
                <a:spcPts val="300"/>
              </a:spcAft>
              <a:defRPr sz="900" b="1">
                <a:solidFill>
                  <a:srgbClr val="2D745C"/>
                </a:solidFill>
                <a:latin typeface="DejaVu Sans"/>
              </a:defRPr>
            </a:pPr>
            <a:r>
              <a:t>03 / COLLECTION</a:t>
            </a:r>
          </a:p>
        </p:txBody>
      </p:sp>
      <p:sp>
        <p:nvSpPr>
          <p:cNvPr id="3" name="TextBox 2"/>
          <p:cNvSpPr txBox="1"/>
          <p:nvPr/>
        </p:nvSpPr>
        <p:spPr>
          <a:xfrm>
            <a:off x="603504" y="658368"/>
            <a:ext cx="10927080" cy="502920"/>
          </a:xfrm>
          <a:prstGeom prst="rect">
            <a:avLst/>
          </a:prstGeom>
          <a:noFill/>
        </p:spPr>
        <p:txBody>
          <a:bodyPr wrap="square" lIns="27432" rIns="27432" tIns="27432" bIns="27432" anchor="t">
            <a:spAutoFit/>
          </a:bodyPr>
          <a:lstStyle/>
          <a:p>
            <a:pPr algn="l">
              <a:spcAft>
                <a:spcPts val="300"/>
              </a:spcAft>
              <a:defRPr sz="2500" b="1">
                <a:solidFill>
                  <a:srgbClr val="1F302E"/>
                </a:solidFill>
                <a:latin typeface="DejaVu Sans"/>
              </a:defRPr>
            </a:pPr>
            <a:r>
              <a:t>Controlled execution, two synchronized sensors</a:t>
            </a:r>
          </a:p>
        </p:txBody>
      </p:sp>
      <p:cxnSp>
        <p:nvCxnSpPr>
          <p:cNvPr id="4" name="Connector 3"/>
          <p:cNvCxnSpPr/>
          <p:nvPr/>
        </p:nvCxnSpPr>
        <p:spPr>
          <a:xfrm>
            <a:off x="603504" y="1307592"/>
            <a:ext cx="10972800" cy="0"/>
          </a:xfrm>
          <a:prstGeom prst="line">
            <a:avLst/>
          </a:prstGeom>
          <a:ln w="12700">
            <a:solidFill>
              <a:srgbClr val="D9E0DB"/>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603504" y="6455664"/>
            <a:ext cx="10972800" cy="0"/>
          </a:xfrm>
          <a:prstGeom prst="line">
            <a:avLst/>
          </a:prstGeom>
          <a:ln w="8890">
            <a:solidFill>
              <a:srgbClr val="D9E0DB"/>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21792" y="6492240"/>
            <a:ext cx="10241280" cy="173736"/>
          </a:xfrm>
          <a:prstGeom prst="rect">
            <a:avLst/>
          </a:prstGeom>
          <a:noFill/>
        </p:spPr>
        <p:txBody>
          <a:bodyPr wrap="square" lIns="27432" rIns="27432" tIns="27432" bIns="27432" anchor="t">
            <a:spAutoFit/>
          </a:bodyPr>
          <a:lstStyle/>
          <a:p>
            <a:pPr algn="l">
              <a:spcAft>
                <a:spcPts val="300"/>
              </a:spcAft>
              <a:defRPr sz="730" b="0">
                <a:solidFill>
                  <a:srgbClr val="61716D"/>
                </a:solidFill>
                <a:latin typeface="DejaVu Sans"/>
              </a:defRPr>
            </a:pPr>
            <a:r>
              <a:t>Source: scripts/stage_malware_revision4.sh; scripts/vbox_malware_batch.sh; docs/STUDY_WALKTHROUGH.md</a:t>
            </a:r>
          </a:p>
        </p:txBody>
      </p:sp>
      <p:sp>
        <p:nvSpPr>
          <p:cNvPr id="7" name="TextBox 6"/>
          <p:cNvSpPr txBox="1"/>
          <p:nvPr/>
        </p:nvSpPr>
        <p:spPr>
          <a:xfrm>
            <a:off x="10991088" y="6473952"/>
            <a:ext cx="530352" cy="182880"/>
          </a:xfrm>
          <a:prstGeom prst="rect">
            <a:avLst/>
          </a:prstGeom>
          <a:noFill/>
        </p:spPr>
        <p:txBody>
          <a:bodyPr wrap="square" lIns="27432" rIns="27432" tIns="27432" bIns="27432" anchor="t">
            <a:spAutoFit/>
          </a:bodyPr>
          <a:lstStyle/>
          <a:p>
            <a:pPr algn="r">
              <a:spcAft>
                <a:spcPts val="300"/>
              </a:spcAft>
              <a:defRPr sz="800" b="0">
                <a:solidFill>
                  <a:srgbClr val="61716D"/>
                </a:solidFill>
                <a:latin typeface="DejaVu Sans"/>
              </a:defRPr>
            </a:pPr>
            <a:r>
              <a:t>04</a:t>
            </a:r>
          </a:p>
        </p:txBody>
      </p:sp>
      <p:sp>
        <p:nvSpPr>
          <p:cNvPr id="8" name="Rounded Rectangle 7"/>
          <p:cNvSpPr/>
          <p:nvPr/>
        </p:nvSpPr>
        <p:spPr>
          <a:xfrm>
            <a:off x="749808" y="1938528"/>
            <a:ext cx="1965960" cy="1938528"/>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2112264"/>
            <a:ext cx="493776" cy="256032"/>
          </a:xfrm>
          <a:prstGeom prst="rect">
            <a:avLst/>
          </a:prstGeom>
          <a:noFill/>
        </p:spPr>
        <p:txBody>
          <a:bodyPr wrap="square" lIns="27432" rIns="27432" tIns="27432" bIns="27432" anchor="t">
            <a:spAutoFit/>
          </a:bodyPr>
          <a:lstStyle/>
          <a:p>
            <a:pPr algn="l">
              <a:spcAft>
                <a:spcPts val="300"/>
              </a:spcAft>
              <a:defRPr sz="1000" b="1">
                <a:solidFill>
                  <a:srgbClr val="C99537"/>
                </a:solidFill>
                <a:latin typeface="DejaVu Sans"/>
              </a:defRPr>
            </a:pPr>
            <a:r>
              <a:t>01</a:t>
            </a:r>
          </a:p>
        </p:txBody>
      </p:sp>
      <p:sp>
        <p:nvSpPr>
          <p:cNvPr id="10" name="TextBox 9"/>
          <p:cNvSpPr txBox="1"/>
          <p:nvPr/>
        </p:nvSpPr>
        <p:spPr>
          <a:xfrm>
            <a:off x="896112" y="2532888"/>
            <a:ext cx="1691640" cy="320040"/>
          </a:xfrm>
          <a:prstGeom prst="rect">
            <a:avLst/>
          </a:prstGeom>
          <a:noFill/>
        </p:spPr>
        <p:txBody>
          <a:bodyPr wrap="square" lIns="27432" rIns="27432" tIns="27432" bIns="27432" anchor="t">
            <a:spAutoFit/>
          </a:bodyPr>
          <a:lstStyle/>
          <a:p>
            <a:pPr algn="l">
              <a:spcAft>
                <a:spcPts val="300"/>
              </a:spcAft>
              <a:defRPr sz="1600" b="1">
                <a:solidFill>
                  <a:srgbClr val="1F302E"/>
                </a:solidFill>
                <a:latin typeface="DejaVu Sans"/>
              </a:defRPr>
            </a:pPr>
            <a:r>
              <a:t>Acquire</a:t>
            </a:r>
          </a:p>
        </p:txBody>
      </p:sp>
      <p:sp>
        <p:nvSpPr>
          <p:cNvPr id="11" name="TextBox 10"/>
          <p:cNvSpPr txBox="1"/>
          <p:nvPr/>
        </p:nvSpPr>
        <p:spPr>
          <a:xfrm>
            <a:off x="896112" y="3017520"/>
            <a:ext cx="1700784" cy="585216"/>
          </a:xfrm>
          <a:prstGeom prst="rect">
            <a:avLst/>
          </a:prstGeom>
          <a:noFill/>
        </p:spPr>
        <p:txBody>
          <a:bodyPr wrap="square" lIns="27432" rIns="27432" tIns="27432" bIns="27432" anchor="t">
            <a:spAutoFit/>
          </a:bodyPr>
          <a:lstStyle/>
          <a:p>
            <a:pPr algn="l">
              <a:spcAft>
                <a:spcPts val="300"/>
              </a:spcAft>
              <a:defRPr sz="1100" b="0">
                <a:solidFill>
                  <a:srgbClr val="61716D"/>
                </a:solidFill>
                <a:latin typeface="DejaVu Sans"/>
              </a:defRPr>
            </a:pPr>
            <a:r>
              <a:t>Metadata-selected</a:t>
            </a:r>
          </a:p>
          <a:p>
            <a:pPr algn="l">
              <a:spcAft>
                <a:spcPts val="300"/>
              </a:spcAft>
              <a:defRPr sz="1100" b="0">
                <a:solidFill>
                  <a:srgbClr val="61716D"/>
                </a:solidFill>
                <a:latin typeface="DejaVu Sans"/>
              </a:defRPr>
            </a:pPr>
            <a:r>
              <a:t>Linux ELF candidates</a:t>
            </a:r>
          </a:p>
        </p:txBody>
      </p:sp>
      <p:sp>
        <p:nvSpPr>
          <p:cNvPr id="12" name="TextBox 11"/>
          <p:cNvSpPr txBox="1"/>
          <p:nvPr/>
        </p:nvSpPr>
        <p:spPr>
          <a:xfrm>
            <a:off x="2734056" y="2670048"/>
            <a:ext cx="274320" cy="274320"/>
          </a:xfrm>
          <a:prstGeom prst="rect">
            <a:avLst/>
          </a:prstGeom>
          <a:noFill/>
        </p:spPr>
        <p:txBody>
          <a:bodyPr wrap="square" lIns="27432" rIns="27432" tIns="27432" bIns="27432" anchor="t">
            <a:spAutoFit/>
          </a:bodyPr>
          <a:lstStyle/>
          <a:p>
            <a:pPr algn="ctr">
              <a:spcAft>
                <a:spcPts val="300"/>
              </a:spcAft>
              <a:defRPr sz="1600" b="1">
                <a:solidFill>
                  <a:srgbClr val="61716D"/>
                </a:solidFill>
                <a:latin typeface="DejaVu Sans"/>
              </a:defRPr>
            </a:pPr>
            <a:r>
              <a:t>&gt;</a:t>
            </a:r>
          </a:p>
        </p:txBody>
      </p:sp>
      <p:sp>
        <p:nvSpPr>
          <p:cNvPr id="13" name="Rounded Rectangle 12"/>
          <p:cNvSpPr/>
          <p:nvPr/>
        </p:nvSpPr>
        <p:spPr>
          <a:xfrm>
            <a:off x="3017520" y="1938528"/>
            <a:ext cx="1965960" cy="1938528"/>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163824" y="2112264"/>
            <a:ext cx="493776" cy="256032"/>
          </a:xfrm>
          <a:prstGeom prst="rect">
            <a:avLst/>
          </a:prstGeom>
          <a:noFill/>
        </p:spPr>
        <p:txBody>
          <a:bodyPr wrap="square" lIns="27432" rIns="27432" tIns="27432" bIns="27432" anchor="t">
            <a:spAutoFit/>
          </a:bodyPr>
          <a:lstStyle/>
          <a:p>
            <a:pPr algn="l">
              <a:spcAft>
                <a:spcPts val="300"/>
              </a:spcAft>
              <a:defRPr sz="1000" b="1">
                <a:solidFill>
                  <a:srgbClr val="418C98"/>
                </a:solidFill>
                <a:latin typeface="DejaVu Sans"/>
              </a:defRPr>
            </a:pPr>
            <a:r>
              <a:t>02</a:t>
            </a:r>
          </a:p>
        </p:txBody>
      </p:sp>
      <p:sp>
        <p:nvSpPr>
          <p:cNvPr id="15" name="TextBox 14"/>
          <p:cNvSpPr txBox="1"/>
          <p:nvPr/>
        </p:nvSpPr>
        <p:spPr>
          <a:xfrm>
            <a:off x="3163824" y="2532888"/>
            <a:ext cx="1691640" cy="320040"/>
          </a:xfrm>
          <a:prstGeom prst="rect">
            <a:avLst/>
          </a:prstGeom>
          <a:noFill/>
        </p:spPr>
        <p:txBody>
          <a:bodyPr wrap="square" lIns="27432" rIns="27432" tIns="27432" bIns="27432" anchor="t">
            <a:spAutoFit/>
          </a:bodyPr>
          <a:lstStyle/>
          <a:p>
            <a:pPr algn="l">
              <a:spcAft>
                <a:spcPts val="300"/>
              </a:spcAft>
              <a:defRPr sz="1600" b="1">
                <a:solidFill>
                  <a:srgbClr val="1F302E"/>
                </a:solidFill>
                <a:latin typeface="DejaVu Sans"/>
              </a:defRPr>
            </a:pPr>
            <a:r>
              <a:t>Verify</a:t>
            </a:r>
          </a:p>
        </p:txBody>
      </p:sp>
      <p:sp>
        <p:nvSpPr>
          <p:cNvPr id="16" name="TextBox 15"/>
          <p:cNvSpPr txBox="1"/>
          <p:nvPr/>
        </p:nvSpPr>
        <p:spPr>
          <a:xfrm>
            <a:off x="3163824" y="3017520"/>
            <a:ext cx="1700784" cy="585216"/>
          </a:xfrm>
          <a:prstGeom prst="rect">
            <a:avLst/>
          </a:prstGeom>
          <a:noFill/>
        </p:spPr>
        <p:txBody>
          <a:bodyPr wrap="square" lIns="27432" rIns="27432" tIns="27432" bIns="27432" anchor="t">
            <a:spAutoFit/>
          </a:bodyPr>
          <a:lstStyle/>
          <a:p>
            <a:pPr algn="l">
              <a:spcAft>
                <a:spcPts val="300"/>
              </a:spcAft>
              <a:defRPr sz="1100" b="0">
                <a:solidFill>
                  <a:srgbClr val="61716D"/>
                </a:solidFill>
                <a:latin typeface="DejaVu Sans"/>
              </a:defRPr>
            </a:pPr>
            <a:r>
              <a:t>Encrypted ZIP</a:t>
            </a:r>
          </a:p>
          <a:p>
            <a:pPr algn="l">
              <a:spcAft>
                <a:spcPts val="300"/>
              </a:spcAft>
              <a:defRPr sz="1100" b="0">
                <a:solidFill>
                  <a:srgbClr val="61716D"/>
                </a:solidFill>
                <a:latin typeface="DejaVu Sans"/>
              </a:defRPr>
            </a:pPr>
            <a:r>
              <a:t>SHA-256 check</a:t>
            </a:r>
          </a:p>
        </p:txBody>
      </p:sp>
      <p:sp>
        <p:nvSpPr>
          <p:cNvPr id="17" name="TextBox 16"/>
          <p:cNvSpPr txBox="1"/>
          <p:nvPr/>
        </p:nvSpPr>
        <p:spPr>
          <a:xfrm>
            <a:off x="5001768" y="2670048"/>
            <a:ext cx="274320" cy="274320"/>
          </a:xfrm>
          <a:prstGeom prst="rect">
            <a:avLst/>
          </a:prstGeom>
          <a:noFill/>
        </p:spPr>
        <p:txBody>
          <a:bodyPr wrap="square" lIns="27432" rIns="27432" tIns="27432" bIns="27432" anchor="t">
            <a:spAutoFit/>
          </a:bodyPr>
          <a:lstStyle/>
          <a:p>
            <a:pPr algn="ctr">
              <a:spcAft>
                <a:spcPts val="300"/>
              </a:spcAft>
              <a:defRPr sz="1600" b="1">
                <a:solidFill>
                  <a:srgbClr val="61716D"/>
                </a:solidFill>
                <a:latin typeface="DejaVu Sans"/>
              </a:defRPr>
            </a:pPr>
            <a:r>
              <a:t>&gt;</a:t>
            </a:r>
          </a:p>
        </p:txBody>
      </p:sp>
      <p:sp>
        <p:nvSpPr>
          <p:cNvPr id="18" name="Rounded Rectangle 17"/>
          <p:cNvSpPr/>
          <p:nvPr/>
        </p:nvSpPr>
        <p:spPr>
          <a:xfrm>
            <a:off x="5285232" y="1938528"/>
            <a:ext cx="1965960" cy="1938528"/>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31536" y="2112264"/>
            <a:ext cx="493776" cy="256032"/>
          </a:xfrm>
          <a:prstGeom prst="rect">
            <a:avLst/>
          </a:prstGeom>
          <a:noFill/>
        </p:spPr>
        <p:txBody>
          <a:bodyPr wrap="square" lIns="27432" rIns="27432" tIns="27432" bIns="27432" anchor="t">
            <a:spAutoFit/>
          </a:bodyPr>
          <a:lstStyle/>
          <a:p>
            <a:pPr algn="l">
              <a:spcAft>
                <a:spcPts val="300"/>
              </a:spcAft>
              <a:defRPr sz="1000" b="1">
                <a:solidFill>
                  <a:srgbClr val="2D745C"/>
                </a:solidFill>
                <a:latin typeface="DejaVu Sans"/>
              </a:defRPr>
            </a:pPr>
            <a:r>
              <a:t>03</a:t>
            </a:r>
          </a:p>
        </p:txBody>
      </p:sp>
      <p:sp>
        <p:nvSpPr>
          <p:cNvPr id="20" name="TextBox 19"/>
          <p:cNvSpPr txBox="1"/>
          <p:nvPr/>
        </p:nvSpPr>
        <p:spPr>
          <a:xfrm>
            <a:off x="5431536" y="2532888"/>
            <a:ext cx="1691640" cy="320040"/>
          </a:xfrm>
          <a:prstGeom prst="rect">
            <a:avLst/>
          </a:prstGeom>
          <a:noFill/>
        </p:spPr>
        <p:txBody>
          <a:bodyPr wrap="square" lIns="27432" rIns="27432" tIns="27432" bIns="27432" anchor="t">
            <a:spAutoFit/>
          </a:bodyPr>
          <a:lstStyle/>
          <a:p>
            <a:pPr algn="l">
              <a:spcAft>
                <a:spcPts val="300"/>
              </a:spcAft>
              <a:defRPr sz="1600" b="1">
                <a:solidFill>
                  <a:srgbClr val="1F302E"/>
                </a:solidFill>
                <a:latin typeface="DejaVu Sans"/>
              </a:defRPr>
            </a:pPr>
            <a:r>
              <a:t>Isolate</a:t>
            </a:r>
          </a:p>
        </p:txBody>
      </p:sp>
      <p:sp>
        <p:nvSpPr>
          <p:cNvPr id="21" name="TextBox 20"/>
          <p:cNvSpPr txBox="1"/>
          <p:nvPr/>
        </p:nvSpPr>
        <p:spPr>
          <a:xfrm>
            <a:off x="5431536" y="3017520"/>
            <a:ext cx="1700784" cy="585216"/>
          </a:xfrm>
          <a:prstGeom prst="rect">
            <a:avLst/>
          </a:prstGeom>
          <a:noFill/>
        </p:spPr>
        <p:txBody>
          <a:bodyPr wrap="square" lIns="27432" rIns="27432" tIns="27432" bIns="27432" anchor="t">
            <a:spAutoFit/>
          </a:bodyPr>
          <a:lstStyle/>
          <a:p>
            <a:pPr algn="l">
              <a:spcAft>
                <a:spcPts val="300"/>
              </a:spcAft>
              <a:defRPr sz="1100" b="0">
                <a:solidFill>
                  <a:srgbClr val="61716D"/>
                </a:solidFill>
                <a:latin typeface="DejaVu Sans"/>
              </a:defRPr>
            </a:pPr>
            <a:r>
              <a:t>Clean VM snapshot</a:t>
            </a:r>
          </a:p>
          <a:p>
            <a:pPr algn="l">
              <a:spcAft>
                <a:spcPts val="300"/>
              </a:spcAft>
              <a:defRPr sz="1100" b="0">
                <a:solidFill>
                  <a:srgbClr val="61716D"/>
                </a:solidFill>
                <a:latin typeface="DejaVu Sans"/>
              </a:defRPr>
            </a:pPr>
            <a:r>
              <a:t>internal malnet only</a:t>
            </a:r>
          </a:p>
        </p:txBody>
      </p:sp>
      <p:sp>
        <p:nvSpPr>
          <p:cNvPr id="22" name="TextBox 21"/>
          <p:cNvSpPr txBox="1"/>
          <p:nvPr/>
        </p:nvSpPr>
        <p:spPr>
          <a:xfrm>
            <a:off x="7269480" y="2670048"/>
            <a:ext cx="274320" cy="274320"/>
          </a:xfrm>
          <a:prstGeom prst="rect">
            <a:avLst/>
          </a:prstGeom>
          <a:noFill/>
        </p:spPr>
        <p:txBody>
          <a:bodyPr wrap="square" lIns="27432" rIns="27432" tIns="27432" bIns="27432" anchor="t">
            <a:spAutoFit/>
          </a:bodyPr>
          <a:lstStyle/>
          <a:p>
            <a:pPr algn="ctr">
              <a:spcAft>
                <a:spcPts val="300"/>
              </a:spcAft>
              <a:defRPr sz="1600" b="1">
                <a:solidFill>
                  <a:srgbClr val="61716D"/>
                </a:solidFill>
                <a:latin typeface="DejaVu Sans"/>
              </a:defRPr>
            </a:pPr>
            <a:r>
              <a:t>&gt;</a:t>
            </a:r>
          </a:p>
        </p:txBody>
      </p:sp>
      <p:sp>
        <p:nvSpPr>
          <p:cNvPr id="23" name="Rounded Rectangle 22"/>
          <p:cNvSpPr/>
          <p:nvPr/>
        </p:nvSpPr>
        <p:spPr>
          <a:xfrm>
            <a:off x="7552944" y="1938528"/>
            <a:ext cx="1965960" cy="1938528"/>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99248" y="2112264"/>
            <a:ext cx="493776" cy="256032"/>
          </a:xfrm>
          <a:prstGeom prst="rect">
            <a:avLst/>
          </a:prstGeom>
          <a:noFill/>
        </p:spPr>
        <p:txBody>
          <a:bodyPr wrap="square" lIns="27432" rIns="27432" tIns="27432" bIns="27432" anchor="t">
            <a:spAutoFit/>
          </a:bodyPr>
          <a:lstStyle/>
          <a:p>
            <a:pPr algn="l">
              <a:spcAft>
                <a:spcPts val="300"/>
              </a:spcAft>
              <a:defRPr sz="1000" b="1">
                <a:solidFill>
                  <a:srgbClr val="D76751"/>
                </a:solidFill>
                <a:latin typeface="DejaVu Sans"/>
              </a:defRPr>
            </a:pPr>
            <a:r>
              <a:t>04</a:t>
            </a:r>
          </a:p>
        </p:txBody>
      </p:sp>
      <p:sp>
        <p:nvSpPr>
          <p:cNvPr id="25" name="TextBox 24"/>
          <p:cNvSpPr txBox="1"/>
          <p:nvPr/>
        </p:nvSpPr>
        <p:spPr>
          <a:xfrm>
            <a:off x="7699248" y="2532888"/>
            <a:ext cx="1691640" cy="320040"/>
          </a:xfrm>
          <a:prstGeom prst="rect">
            <a:avLst/>
          </a:prstGeom>
          <a:noFill/>
        </p:spPr>
        <p:txBody>
          <a:bodyPr wrap="square" lIns="27432" rIns="27432" tIns="27432" bIns="27432" anchor="t">
            <a:spAutoFit/>
          </a:bodyPr>
          <a:lstStyle/>
          <a:p>
            <a:pPr algn="l">
              <a:spcAft>
                <a:spcPts val="300"/>
              </a:spcAft>
              <a:defRPr sz="1600" b="1">
                <a:solidFill>
                  <a:srgbClr val="1F302E"/>
                </a:solidFill>
                <a:latin typeface="DejaVu Sans"/>
              </a:defRPr>
            </a:pPr>
            <a:r>
              <a:t>Observe</a:t>
            </a:r>
          </a:p>
        </p:txBody>
      </p:sp>
      <p:sp>
        <p:nvSpPr>
          <p:cNvPr id="26" name="TextBox 25"/>
          <p:cNvSpPr txBox="1"/>
          <p:nvPr/>
        </p:nvSpPr>
        <p:spPr>
          <a:xfrm>
            <a:off x="7699248" y="3017520"/>
            <a:ext cx="1700784" cy="585216"/>
          </a:xfrm>
          <a:prstGeom prst="rect">
            <a:avLst/>
          </a:prstGeom>
          <a:noFill/>
        </p:spPr>
        <p:txBody>
          <a:bodyPr wrap="square" lIns="27432" rIns="27432" tIns="27432" bIns="27432" anchor="t">
            <a:spAutoFit/>
          </a:bodyPr>
          <a:lstStyle/>
          <a:p>
            <a:pPr algn="l">
              <a:spcAft>
                <a:spcPts val="300"/>
              </a:spcAft>
              <a:defRPr sz="1100" b="0">
                <a:solidFill>
                  <a:srgbClr val="61716D"/>
                </a:solidFill>
                <a:latin typeface="DejaVu Sans"/>
              </a:defRPr>
            </a:pPr>
            <a:r>
              <a:t>PCAP + eBPF</a:t>
            </a:r>
          </a:p>
          <a:p>
            <a:pPr algn="l">
              <a:spcAft>
                <a:spcPts val="300"/>
              </a:spcAft>
              <a:defRPr sz="1100" b="0">
                <a:solidFill>
                  <a:srgbClr val="61716D"/>
                </a:solidFill>
                <a:latin typeface="DejaVu Sans"/>
              </a:defRPr>
            </a:pPr>
            <a:r>
              <a:t>0.5 s windows</a:t>
            </a:r>
          </a:p>
        </p:txBody>
      </p:sp>
      <p:sp>
        <p:nvSpPr>
          <p:cNvPr id="27" name="TextBox 26"/>
          <p:cNvSpPr txBox="1"/>
          <p:nvPr/>
        </p:nvSpPr>
        <p:spPr>
          <a:xfrm>
            <a:off x="9537192" y="2670048"/>
            <a:ext cx="274320" cy="274320"/>
          </a:xfrm>
          <a:prstGeom prst="rect">
            <a:avLst/>
          </a:prstGeom>
          <a:noFill/>
        </p:spPr>
        <p:txBody>
          <a:bodyPr wrap="square" lIns="27432" rIns="27432" tIns="27432" bIns="27432" anchor="t">
            <a:spAutoFit/>
          </a:bodyPr>
          <a:lstStyle/>
          <a:p>
            <a:pPr algn="ctr">
              <a:spcAft>
                <a:spcPts val="300"/>
              </a:spcAft>
              <a:defRPr sz="1600" b="1">
                <a:solidFill>
                  <a:srgbClr val="61716D"/>
                </a:solidFill>
                <a:latin typeface="DejaVu Sans"/>
              </a:defRPr>
            </a:pPr>
            <a:r>
              <a:t>&gt;</a:t>
            </a:r>
          </a:p>
        </p:txBody>
      </p:sp>
      <p:sp>
        <p:nvSpPr>
          <p:cNvPr id="28" name="Rounded Rectangle 27"/>
          <p:cNvSpPr/>
          <p:nvPr/>
        </p:nvSpPr>
        <p:spPr>
          <a:xfrm>
            <a:off x="9820656" y="1938528"/>
            <a:ext cx="1965960" cy="1938528"/>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966960" y="2112264"/>
            <a:ext cx="493776" cy="256032"/>
          </a:xfrm>
          <a:prstGeom prst="rect">
            <a:avLst/>
          </a:prstGeom>
          <a:noFill/>
        </p:spPr>
        <p:txBody>
          <a:bodyPr wrap="square" lIns="27432" rIns="27432" tIns="27432" bIns="27432" anchor="t">
            <a:spAutoFit/>
          </a:bodyPr>
          <a:lstStyle/>
          <a:p>
            <a:pPr algn="l">
              <a:spcAft>
                <a:spcPts val="300"/>
              </a:spcAft>
              <a:defRPr sz="1000" b="1">
                <a:solidFill>
                  <a:srgbClr val="C99537"/>
                </a:solidFill>
                <a:latin typeface="DejaVu Sans"/>
              </a:defRPr>
            </a:pPr>
            <a:r>
              <a:t>05</a:t>
            </a:r>
          </a:p>
        </p:txBody>
      </p:sp>
      <p:sp>
        <p:nvSpPr>
          <p:cNvPr id="30" name="TextBox 29"/>
          <p:cNvSpPr txBox="1"/>
          <p:nvPr/>
        </p:nvSpPr>
        <p:spPr>
          <a:xfrm>
            <a:off x="9966960" y="2532888"/>
            <a:ext cx="1691640" cy="320040"/>
          </a:xfrm>
          <a:prstGeom prst="rect">
            <a:avLst/>
          </a:prstGeom>
          <a:noFill/>
        </p:spPr>
        <p:txBody>
          <a:bodyPr wrap="square" lIns="27432" rIns="27432" tIns="27432" bIns="27432" anchor="t">
            <a:spAutoFit/>
          </a:bodyPr>
          <a:lstStyle/>
          <a:p>
            <a:pPr algn="l">
              <a:spcAft>
                <a:spcPts val="300"/>
              </a:spcAft>
              <a:defRPr sz="1600" b="1">
                <a:solidFill>
                  <a:srgbClr val="1F302E"/>
                </a:solidFill>
                <a:latin typeface="DejaVu Sans"/>
              </a:defRPr>
            </a:pPr>
            <a:r>
              <a:t>Aggregate</a:t>
            </a:r>
          </a:p>
        </p:txBody>
      </p:sp>
      <p:sp>
        <p:nvSpPr>
          <p:cNvPr id="31" name="TextBox 30"/>
          <p:cNvSpPr txBox="1"/>
          <p:nvPr/>
        </p:nvSpPr>
        <p:spPr>
          <a:xfrm>
            <a:off x="9966960" y="3017520"/>
            <a:ext cx="1700784" cy="585216"/>
          </a:xfrm>
          <a:prstGeom prst="rect">
            <a:avLst/>
          </a:prstGeom>
          <a:noFill/>
        </p:spPr>
        <p:txBody>
          <a:bodyPr wrap="square" lIns="27432" rIns="27432" tIns="27432" bIns="27432" anchor="t">
            <a:spAutoFit/>
          </a:bodyPr>
          <a:lstStyle/>
          <a:p>
            <a:pPr algn="l">
              <a:spcAft>
                <a:spcPts val="300"/>
              </a:spcAft>
              <a:defRPr sz="1100" b="0">
                <a:solidFill>
                  <a:srgbClr val="61716D"/>
                </a:solidFill>
                <a:latin typeface="DejaVu Sans"/>
              </a:defRPr>
            </a:pPr>
            <a:r>
              <a:t>One feature row</a:t>
            </a:r>
          </a:p>
          <a:p>
            <a:pPr algn="l">
              <a:spcAft>
                <a:spcPts val="300"/>
              </a:spcAft>
              <a:defRPr sz="1100" b="0">
                <a:solidFill>
                  <a:srgbClr val="61716D"/>
                </a:solidFill>
                <a:latin typeface="DejaVu Sans"/>
              </a:defRPr>
            </a:pPr>
            <a:r>
              <a:t>per sample</a:t>
            </a:r>
          </a:p>
        </p:txBody>
      </p:sp>
      <p:sp>
        <p:nvSpPr>
          <p:cNvPr id="32" name="Rounded Rectangle 31"/>
          <p:cNvSpPr/>
          <p:nvPr/>
        </p:nvSpPr>
        <p:spPr>
          <a:xfrm>
            <a:off x="914400" y="4352544"/>
            <a:ext cx="10332720" cy="786384"/>
          </a:xfrm>
          <a:prstGeom prst="roundRect">
            <a:avLst>
              <a:gd name="adj" fmla="val 8000"/>
            </a:avLst>
          </a:prstGeom>
          <a:solidFill>
            <a:srgbClr val="F5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143000" y="4553712"/>
            <a:ext cx="9875520" cy="365760"/>
          </a:xfrm>
          <a:prstGeom prst="rect">
            <a:avLst/>
          </a:prstGeom>
          <a:noFill/>
        </p:spPr>
        <p:txBody>
          <a:bodyPr wrap="square" lIns="27432" rIns="27432" tIns="27432" bIns="27432" anchor="t">
            <a:spAutoFit/>
          </a:bodyPr>
          <a:lstStyle/>
          <a:p>
            <a:pPr algn="ctr">
              <a:spcAft>
                <a:spcPts val="300"/>
              </a:spcAft>
              <a:defRPr sz="1400" b="1">
                <a:solidFill>
                  <a:srgbClr val="D76751"/>
                </a:solidFill>
                <a:latin typeface="DejaVu Sans"/>
              </a:defRPr>
            </a:pPr>
            <a:r>
              <a:t>Safety boundary: no NAT or public network interface on the malware VM</a:t>
            </a:r>
          </a:p>
        </p:txBody>
      </p:sp>
      <p:sp>
        <p:nvSpPr>
          <p:cNvPr id="34" name="TextBox 33"/>
          <p:cNvSpPr txBox="1"/>
          <p:nvPr/>
        </p:nvSpPr>
        <p:spPr>
          <a:xfrm>
            <a:off x="1097280" y="5413248"/>
            <a:ext cx="9966960" cy="310896"/>
          </a:xfrm>
          <a:prstGeom prst="rect">
            <a:avLst/>
          </a:prstGeom>
          <a:noFill/>
        </p:spPr>
        <p:txBody>
          <a:bodyPr wrap="square" lIns="27432" rIns="27432" tIns="27432" bIns="27432" anchor="t">
            <a:spAutoFit/>
          </a:bodyPr>
          <a:lstStyle/>
          <a:p>
            <a:pPr algn="ctr">
              <a:spcAft>
                <a:spcPts val="300"/>
              </a:spcAft>
              <a:defRPr sz="1050" b="0">
                <a:solidFill>
                  <a:srgbClr val="61716D"/>
                </a:solidFill>
                <a:latin typeface="DejaVu Sans"/>
              </a:defRPr>
            </a:pPr>
            <a:r>
              <a:t>20-second execution limit  ·  Separate clean restore per sample  ·  Sink VM on internal network</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F4EF"/>
        </a:solidFill>
        <a:effectLst/>
      </p:bgPr>
    </p:bg>
    <p:spTree>
      <p:nvGrpSpPr>
        <p:cNvPr id="1" name=""/>
        <p:cNvGrpSpPr/>
        <p:nvPr/>
      </p:nvGrpSpPr>
      <p:grpSpPr/>
      <p:sp>
        <p:nvSpPr>
          <p:cNvPr id="2" name="TextBox 1"/>
          <p:cNvSpPr txBox="1"/>
          <p:nvPr/>
        </p:nvSpPr>
        <p:spPr>
          <a:xfrm>
            <a:off x="603504" y="310896"/>
            <a:ext cx="8961120" cy="256032"/>
          </a:xfrm>
          <a:prstGeom prst="rect">
            <a:avLst/>
          </a:prstGeom>
          <a:noFill/>
        </p:spPr>
        <p:txBody>
          <a:bodyPr wrap="square" lIns="27432" rIns="27432" tIns="27432" bIns="27432" anchor="t">
            <a:spAutoFit/>
          </a:bodyPr>
          <a:lstStyle/>
          <a:p>
            <a:pPr algn="l">
              <a:spcAft>
                <a:spcPts val="300"/>
              </a:spcAft>
              <a:defRPr sz="900" b="1">
                <a:solidFill>
                  <a:srgbClr val="2D745C"/>
                </a:solidFill>
                <a:latin typeface="DejaVu Sans"/>
              </a:defRPr>
            </a:pPr>
            <a:r>
              <a:t>04 / FEATURES</a:t>
            </a:r>
          </a:p>
        </p:txBody>
      </p:sp>
      <p:sp>
        <p:nvSpPr>
          <p:cNvPr id="3" name="TextBox 2"/>
          <p:cNvSpPr txBox="1"/>
          <p:nvPr/>
        </p:nvSpPr>
        <p:spPr>
          <a:xfrm>
            <a:off x="603504" y="658368"/>
            <a:ext cx="10927080" cy="502920"/>
          </a:xfrm>
          <a:prstGeom prst="rect">
            <a:avLst/>
          </a:prstGeom>
          <a:noFill/>
        </p:spPr>
        <p:txBody>
          <a:bodyPr wrap="square" lIns="27432" rIns="27432" tIns="27432" bIns="27432" anchor="t">
            <a:spAutoFit/>
          </a:bodyPr>
          <a:lstStyle/>
          <a:p>
            <a:pPr algn="l">
              <a:spcAft>
                <a:spcPts val="300"/>
              </a:spcAft>
              <a:defRPr sz="2500" b="1">
                <a:solidFill>
                  <a:srgbClr val="1F302E"/>
                </a:solidFill>
                <a:latin typeface="DejaVu Sans"/>
              </a:defRPr>
            </a:pPr>
            <a:r>
              <a:t>Equal sensor budgets; shared sample-level summaries</a:t>
            </a:r>
          </a:p>
        </p:txBody>
      </p:sp>
      <p:cxnSp>
        <p:nvCxnSpPr>
          <p:cNvPr id="4" name="Connector 3"/>
          <p:cNvCxnSpPr/>
          <p:nvPr/>
        </p:nvCxnSpPr>
        <p:spPr>
          <a:xfrm>
            <a:off x="603504" y="1307592"/>
            <a:ext cx="10972800" cy="0"/>
          </a:xfrm>
          <a:prstGeom prst="line">
            <a:avLst/>
          </a:prstGeom>
          <a:ln w="12700">
            <a:solidFill>
              <a:srgbClr val="D9E0DB"/>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603504" y="6455664"/>
            <a:ext cx="10972800" cy="0"/>
          </a:xfrm>
          <a:prstGeom prst="line">
            <a:avLst/>
          </a:prstGeom>
          <a:ln w="8890">
            <a:solidFill>
              <a:srgbClr val="D9E0DB"/>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21792" y="6492240"/>
            <a:ext cx="10241280" cy="173736"/>
          </a:xfrm>
          <a:prstGeom prst="rect">
            <a:avLst/>
          </a:prstGeom>
          <a:noFill/>
        </p:spPr>
        <p:txBody>
          <a:bodyPr wrap="square" lIns="27432" rIns="27432" tIns="27432" bIns="27432" anchor="t">
            <a:spAutoFit/>
          </a:bodyPr>
          <a:lstStyle/>
          <a:p>
            <a:pPr algn="l">
              <a:spcAft>
                <a:spcPts val="300"/>
              </a:spcAft>
              <a:defRPr sz="730" b="0">
                <a:solidFill>
                  <a:srgbClr val="61716D"/>
                </a:solidFill>
                <a:latin typeface="DejaVu Sans"/>
              </a:defRPr>
            </a:pPr>
            <a:r>
              <a:t>Source: src/build_dataset.py; feature_breadth_comparison/balanced_9network_9host_feature_columns.json</a:t>
            </a:r>
          </a:p>
        </p:txBody>
      </p:sp>
      <p:sp>
        <p:nvSpPr>
          <p:cNvPr id="7" name="TextBox 6"/>
          <p:cNvSpPr txBox="1"/>
          <p:nvPr/>
        </p:nvSpPr>
        <p:spPr>
          <a:xfrm>
            <a:off x="10991088" y="6473952"/>
            <a:ext cx="530352" cy="182880"/>
          </a:xfrm>
          <a:prstGeom prst="rect">
            <a:avLst/>
          </a:prstGeom>
          <a:noFill/>
        </p:spPr>
        <p:txBody>
          <a:bodyPr wrap="square" lIns="27432" rIns="27432" tIns="27432" bIns="27432" anchor="t">
            <a:spAutoFit/>
          </a:bodyPr>
          <a:lstStyle/>
          <a:p>
            <a:pPr algn="r">
              <a:spcAft>
                <a:spcPts val="300"/>
              </a:spcAft>
              <a:defRPr sz="800" b="0">
                <a:solidFill>
                  <a:srgbClr val="61716D"/>
                </a:solidFill>
                <a:latin typeface="DejaVu Sans"/>
              </a:defRPr>
            </a:pPr>
            <a:r>
              <a:t>05</a:t>
            </a:r>
          </a:p>
        </p:txBody>
      </p:sp>
      <p:sp>
        <p:nvSpPr>
          <p:cNvPr id="8" name="TextBox 7"/>
          <p:cNvSpPr txBox="1"/>
          <p:nvPr/>
        </p:nvSpPr>
        <p:spPr>
          <a:xfrm>
            <a:off x="850392" y="1645920"/>
            <a:ext cx="2578608" cy="292608"/>
          </a:xfrm>
          <a:prstGeom prst="rect">
            <a:avLst/>
          </a:prstGeom>
          <a:noFill/>
        </p:spPr>
        <p:txBody>
          <a:bodyPr wrap="square" lIns="27432" rIns="27432" tIns="27432" bIns="27432" anchor="t">
            <a:spAutoFit/>
          </a:bodyPr>
          <a:lstStyle/>
          <a:p>
            <a:pPr algn="l">
              <a:spcAft>
                <a:spcPts val="300"/>
              </a:spcAft>
              <a:defRPr sz="900" b="1">
                <a:solidFill>
                  <a:srgbClr val="61716D"/>
                </a:solidFill>
                <a:latin typeface="DejaVu Sans"/>
              </a:defRPr>
            </a:pPr>
            <a:r>
              <a:t>BASE SIGNAL FAMILIES</a:t>
            </a:r>
          </a:p>
        </p:txBody>
      </p:sp>
      <p:sp>
        <p:nvSpPr>
          <p:cNvPr id="9" name="Rounded Rectangle 8"/>
          <p:cNvSpPr/>
          <p:nvPr/>
        </p:nvSpPr>
        <p:spPr>
          <a:xfrm>
            <a:off x="795528" y="2048256"/>
            <a:ext cx="3337560" cy="2048256"/>
          </a:xfrm>
          <a:prstGeom prst="roundRect">
            <a:avLst>
              <a:gd name="adj" fmla="val 8000"/>
            </a:avLst>
          </a:prstGeom>
          <a:solidFill>
            <a:srgbClr val="E2EF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5528" y="2048256"/>
            <a:ext cx="64008" cy="2048256"/>
          </a:xfrm>
          <a:prstGeom prst="rect">
            <a:avLst/>
          </a:prstGeom>
          <a:solidFill>
            <a:srgbClr val="418C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2212848"/>
            <a:ext cx="2953512" cy="310896"/>
          </a:xfrm>
          <a:prstGeom prst="rect">
            <a:avLst/>
          </a:prstGeom>
          <a:noFill/>
        </p:spPr>
        <p:txBody>
          <a:bodyPr wrap="square" lIns="27432" rIns="27432" tIns="27432" bIns="27432" anchor="t">
            <a:spAutoFit/>
          </a:bodyPr>
          <a:lstStyle/>
          <a:p>
            <a:pPr algn="l">
              <a:spcAft>
                <a:spcPts val="300"/>
              </a:spcAft>
              <a:defRPr sz="1300" b="1">
                <a:solidFill>
                  <a:srgbClr val="418C98"/>
                </a:solidFill>
                <a:latin typeface="DejaVu Sans"/>
              </a:defRPr>
            </a:pPr>
            <a:r>
              <a:t>NETWORK  ·  9 SIGNALS</a:t>
            </a:r>
          </a:p>
        </p:txBody>
      </p:sp>
      <p:sp>
        <p:nvSpPr>
          <p:cNvPr id="12" name="TextBox 11"/>
          <p:cNvSpPr txBox="1"/>
          <p:nvPr/>
        </p:nvSpPr>
        <p:spPr>
          <a:xfrm>
            <a:off x="1005840" y="2596896"/>
            <a:ext cx="2953512" cy="1353312"/>
          </a:xfrm>
          <a:prstGeom prst="rect">
            <a:avLst/>
          </a:prstGeom>
          <a:noFill/>
        </p:spPr>
        <p:txBody>
          <a:bodyPr wrap="square" lIns="27432" rIns="27432" tIns="27432" bIns="27432" anchor="t">
            <a:spAutoFit/>
          </a:bodyPr>
          <a:lstStyle/>
          <a:p>
            <a:pPr algn="l">
              <a:spcAft>
                <a:spcPts val="300"/>
              </a:spcAft>
              <a:defRPr sz="1200" b="0">
                <a:solidFill>
                  <a:srgbClr val="1F302E"/>
                </a:solidFill>
                <a:latin typeface="DejaVu Sans"/>
              </a:defRPr>
            </a:pPr>
            <a:r>
              <a:t>Packets, bytes, flow count</a:t>
            </a:r>
          </a:p>
          <a:p>
            <a:pPr algn="l">
              <a:spcAft>
                <a:spcPts val="300"/>
              </a:spcAft>
              <a:defRPr sz="1200" b="0">
                <a:solidFill>
                  <a:srgbClr val="1F302E"/>
                </a:solidFill>
                <a:latin typeface="DejaVu Sans"/>
              </a:defRPr>
            </a:pPr>
            <a:r>
              <a:t>Sent/received counts</a:t>
            </a:r>
          </a:p>
          <a:p>
            <a:pPr algn="l">
              <a:spcAft>
                <a:spcPts val="300"/>
              </a:spcAft>
              <a:defRPr sz="1200" b="0">
                <a:solidFill>
                  <a:srgbClr val="1F302E"/>
                </a:solidFill>
                <a:latin typeface="DejaVu Sans"/>
              </a:defRPr>
            </a:pPr>
            <a:r>
              <a:t>Packet and byte rates</a:t>
            </a:r>
          </a:p>
        </p:txBody>
      </p:sp>
      <p:sp>
        <p:nvSpPr>
          <p:cNvPr id="13" name="Rounded Rectangle 12"/>
          <p:cNvSpPr/>
          <p:nvPr/>
        </p:nvSpPr>
        <p:spPr>
          <a:xfrm>
            <a:off x="4425696" y="2048256"/>
            <a:ext cx="3337560" cy="2048256"/>
          </a:xfrm>
          <a:prstGeom prst="roundRect">
            <a:avLst>
              <a:gd name="adj" fmla="val 8000"/>
            </a:avLst>
          </a:prstGeom>
          <a:solidFill>
            <a:srgbClr val="E2E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25696" y="2048256"/>
            <a:ext cx="64008" cy="2048256"/>
          </a:xfrm>
          <a:prstGeom prst="rect">
            <a:avLst/>
          </a:prstGeom>
          <a:solidFill>
            <a:srgbClr val="2D74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36008" y="2212848"/>
            <a:ext cx="2953512" cy="310896"/>
          </a:xfrm>
          <a:prstGeom prst="rect">
            <a:avLst/>
          </a:prstGeom>
          <a:noFill/>
        </p:spPr>
        <p:txBody>
          <a:bodyPr wrap="square" lIns="27432" rIns="27432" tIns="27432" bIns="27432" anchor="t">
            <a:spAutoFit/>
          </a:bodyPr>
          <a:lstStyle/>
          <a:p>
            <a:pPr algn="l">
              <a:spcAft>
                <a:spcPts val="300"/>
              </a:spcAft>
              <a:defRPr sz="1300" b="1">
                <a:solidFill>
                  <a:srgbClr val="2D745C"/>
                </a:solidFill>
                <a:latin typeface="DejaVu Sans"/>
              </a:defRPr>
            </a:pPr>
            <a:r>
              <a:t>HOST / eBPF  ·  9 SIGNALS</a:t>
            </a:r>
          </a:p>
        </p:txBody>
      </p:sp>
      <p:sp>
        <p:nvSpPr>
          <p:cNvPr id="16" name="TextBox 15"/>
          <p:cNvSpPr txBox="1"/>
          <p:nvPr/>
        </p:nvSpPr>
        <p:spPr>
          <a:xfrm>
            <a:off x="4636008" y="2596896"/>
            <a:ext cx="2953512" cy="1353312"/>
          </a:xfrm>
          <a:prstGeom prst="rect">
            <a:avLst/>
          </a:prstGeom>
          <a:noFill/>
        </p:spPr>
        <p:txBody>
          <a:bodyPr wrap="square" lIns="27432" rIns="27432" tIns="27432" bIns="27432" anchor="t">
            <a:spAutoFit/>
          </a:bodyPr>
          <a:lstStyle/>
          <a:p>
            <a:pPr algn="l">
              <a:spcAft>
                <a:spcPts val="300"/>
              </a:spcAft>
              <a:defRPr sz="1200" b="0">
                <a:solidFill>
                  <a:srgbClr val="1F302E"/>
                </a:solidFill>
                <a:latin typeface="DejaVu Sans"/>
              </a:defRPr>
            </a:pPr>
            <a:r>
              <a:t>Socket/connect/sendto</a:t>
            </a:r>
          </a:p>
          <a:p>
            <a:pPr algn="l">
              <a:spcAft>
                <a:spcPts val="300"/>
              </a:spcAft>
              <a:defRPr sz="1200" b="0">
                <a:solidFill>
                  <a:srgbClr val="1F302E"/>
                </a:solidFill>
                <a:latin typeface="DejaVu Sans"/>
              </a:defRPr>
            </a:pPr>
            <a:r>
              <a:t>Successful open calls</a:t>
            </a:r>
          </a:p>
          <a:p>
            <a:pPr algn="l">
              <a:spcAft>
                <a:spcPts val="300"/>
              </a:spcAft>
              <a:defRPr sz="1200" b="0">
                <a:solidFill>
                  <a:srgbClr val="1F302E"/>
                </a:solidFill>
                <a:latin typeface="DejaVu Sans"/>
              </a:defRPr>
            </a:pPr>
            <a:r>
              <a:t>Successful write calls/bytes</a:t>
            </a:r>
          </a:p>
        </p:txBody>
      </p:sp>
      <p:sp>
        <p:nvSpPr>
          <p:cNvPr id="17" name="Rounded Rectangle 16"/>
          <p:cNvSpPr/>
          <p:nvPr/>
        </p:nvSpPr>
        <p:spPr>
          <a:xfrm>
            <a:off x="8055864" y="2048256"/>
            <a:ext cx="3337560" cy="2048256"/>
          </a:xfrm>
          <a:prstGeom prst="roundRect">
            <a:avLst>
              <a:gd name="adj" fmla="val 8000"/>
            </a:avLst>
          </a:prstGeom>
          <a:solidFill>
            <a:srgbClr val="F3ED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55864" y="2048256"/>
            <a:ext cx="64008" cy="2048256"/>
          </a:xfrm>
          <a:prstGeom prst="rect">
            <a:avLst/>
          </a:prstGeom>
          <a:solidFill>
            <a:srgbClr val="C995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66176" y="2212848"/>
            <a:ext cx="2953512" cy="310896"/>
          </a:xfrm>
          <a:prstGeom prst="rect">
            <a:avLst/>
          </a:prstGeom>
          <a:noFill/>
        </p:spPr>
        <p:txBody>
          <a:bodyPr wrap="square" lIns="27432" rIns="27432" tIns="27432" bIns="27432" anchor="t">
            <a:spAutoFit/>
          </a:bodyPr>
          <a:lstStyle/>
          <a:p>
            <a:pPr algn="l">
              <a:spcAft>
                <a:spcPts val="300"/>
              </a:spcAft>
              <a:defRPr sz="1300" b="1">
                <a:solidFill>
                  <a:srgbClr val="C99537"/>
                </a:solidFill>
                <a:latin typeface="DejaVu Sans"/>
              </a:defRPr>
            </a:pPr>
            <a:r>
              <a:t>SUMMARY EACH SIGNAL</a:t>
            </a:r>
          </a:p>
        </p:txBody>
      </p:sp>
      <p:sp>
        <p:nvSpPr>
          <p:cNvPr id="20" name="TextBox 19"/>
          <p:cNvSpPr txBox="1"/>
          <p:nvPr/>
        </p:nvSpPr>
        <p:spPr>
          <a:xfrm>
            <a:off x="8266176" y="2596896"/>
            <a:ext cx="2953512" cy="1353312"/>
          </a:xfrm>
          <a:prstGeom prst="rect">
            <a:avLst/>
          </a:prstGeom>
          <a:noFill/>
        </p:spPr>
        <p:txBody>
          <a:bodyPr wrap="square" lIns="27432" rIns="27432" tIns="27432" bIns="27432" anchor="t">
            <a:spAutoFit/>
          </a:bodyPr>
          <a:lstStyle/>
          <a:p>
            <a:pPr algn="l">
              <a:spcAft>
                <a:spcPts val="300"/>
              </a:spcAft>
              <a:defRPr sz="1200" b="0">
                <a:solidFill>
                  <a:srgbClr val="1F302E"/>
                </a:solidFill>
                <a:latin typeface="DejaVu Sans"/>
              </a:defRPr>
            </a:pPr>
            <a:r>
              <a:t>Mean  ·  Max  ·  Sum</a:t>
            </a:r>
          </a:p>
          <a:p>
            <a:pPr algn="l">
              <a:spcAft>
                <a:spcPts val="300"/>
              </a:spcAft>
              <a:defRPr sz="1200" b="0">
                <a:solidFill>
                  <a:srgbClr val="1F302E"/>
                </a:solidFill>
                <a:latin typeface="DejaVu Sans"/>
              </a:defRPr>
            </a:pPr>
            <a:r>
              <a:t>Standard deviation</a:t>
            </a:r>
          </a:p>
          <a:p>
            <a:pPr algn="l">
              <a:spcAft>
                <a:spcPts val="300"/>
              </a:spcAft>
              <a:defRPr sz="1200" b="0">
                <a:solidFill>
                  <a:srgbClr val="1F302E"/>
                </a:solidFill>
                <a:latin typeface="DejaVu Sans"/>
              </a:defRPr>
            </a:pPr>
            <a:r>
              <a:t>Active-window count</a:t>
            </a:r>
          </a:p>
        </p:txBody>
      </p:sp>
      <p:sp>
        <p:nvSpPr>
          <p:cNvPr id="21" name="TextBox 20"/>
          <p:cNvSpPr txBox="1"/>
          <p:nvPr/>
        </p:nvSpPr>
        <p:spPr>
          <a:xfrm>
            <a:off x="868680" y="4599432"/>
            <a:ext cx="3108960" cy="502920"/>
          </a:xfrm>
          <a:prstGeom prst="rect">
            <a:avLst/>
          </a:prstGeom>
          <a:noFill/>
        </p:spPr>
        <p:txBody>
          <a:bodyPr wrap="square" lIns="27432" rIns="27432" tIns="27432" bIns="27432" anchor="t">
            <a:spAutoFit/>
          </a:bodyPr>
          <a:lstStyle/>
          <a:p>
            <a:pPr algn="ctr">
              <a:spcAft>
                <a:spcPts val="300"/>
              </a:spcAft>
              <a:defRPr sz="2300" b="1">
                <a:solidFill>
                  <a:srgbClr val="418C98"/>
                </a:solidFill>
                <a:latin typeface="DejaVu Sans"/>
              </a:defRPr>
            </a:pPr>
            <a:r>
              <a:t>9 × 5 = 45</a:t>
            </a:r>
          </a:p>
        </p:txBody>
      </p:sp>
      <p:sp>
        <p:nvSpPr>
          <p:cNvPr id="22" name="TextBox 21"/>
          <p:cNvSpPr txBox="1"/>
          <p:nvPr/>
        </p:nvSpPr>
        <p:spPr>
          <a:xfrm>
            <a:off x="4535424" y="4599432"/>
            <a:ext cx="3108960" cy="502920"/>
          </a:xfrm>
          <a:prstGeom prst="rect">
            <a:avLst/>
          </a:prstGeom>
          <a:noFill/>
        </p:spPr>
        <p:txBody>
          <a:bodyPr wrap="square" lIns="27432" rIns="27432" tIns="27432" bIns="27432" anchor="t">
            <a:spAutoFit/>
          </a:bodyPr>
          <a:lstStyle/>
          <a:p>
            <a:pPr algn="ctr">
              <a:spcAft>
                <a:spcPts val="300"/>
              </a:spcAft>
              <a:defRPr sz="2300" b="1">
                <a:solidFill>
                  <a:srgbClr val="2D745C"/>
                </a:solidFill>
                <a:latin typeface="DejaVu Sans"/>
              </a:defRPr>
            </a:pPr>
            <a:r>
              <a:t>9 × 5 = 45</a:t>
            </a:r>
          </a:p>
        </p:txBody>
      </p:sp>
      <p:sp>
        <p:nvSpPr>
          <p:cNvPr id="23" name="TextBox 22"/>
          <p:cNvSpPr txBox="1"/>
          <p:nvPr/>
        </p:nvSpPr>
        <p:spPr>
          <a:xfrm>
            <a:off x="8266175" y="4599432"/>
            <a:ext cx="2834640" cy="502920"/>
          </a:xfrm>
          <a:prstGeom prst="rect">
            <a:avLst/>
          </a:prstGeom>
          <a:noFill/>
        </p:spPr>
        <p:txBody>
          <a:bodyPr wrap="square" lIns="27432" rIns="27432" tIns="27432" bIns="27432" anchor="t">
            <a:spAutoFit/>
          </a:bodyPr>
          <a:lstStyle/>
          <a:p>
            <a:pPr algn="ctr">
              <a:spcAft>
                <a:spcPts val="300"/>
              </a:spcAft>
              <a:defRPr sz="2300" b="1">
                <a:solidFill>
                  <a:srgbClr val="D76751"/>
                </a:solidFill>
                <a:latin typeface="DejaVu Sans"/>
              </a:defRPr>
            </a:pPr>
            <a:r>
              <a:t>45 + 45 = 90</a:t>
            </a:r>
          </a:p>
        </p:txBody>
      </p:sp>
      <p:sp>
        <p:nvSpPr>
          <p:cNvPr id="24" name="TextBox 23"/>
          <p:cNvSpPr txBox="1"/>
          <p:nvPr/>
        </p:nvSpPr>
        <p:spPr>
          <a:xfrm>
            <a:off x="868680" y="5330952"/>
            <a:ext cx="10332720" cy="393192"/>
          </a:xfrm>
          <a:prstGeom prst="rect">
            <a:avLst/>
          </a:prstGeom>
          <a:noFill/>
        </p:spPr>
        <p:txBody>
          <a:bodyPr wrap="square" lIns="27432" rIns="27432" tIns="27432" bIns="27432" anchor="t">
            <a:spAutoFit/>
          </a:bodyPr>
          <a:lstStyle/>
          <a:p>
            <a:pPr algn="ctr">
              <a:spcAft>
                <a:spcPts val="300"/>
              </a:spcAft>
              <a:defRPr sz="1040" b="1">
                <a:solidFill>
                  <a:srgbClr val="D76751"/>
                </a:solidFill>
                <a:latin typeface="DejaVu Sans"/>
              </a:defRPr>
            </a:pPr>
            <a:r>
              <a:t>Syscall write counters are not proof of regular-file writes; no file-descriptor/path attribution is available.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F4EF"/>
        </a:solidFill>
        <a:effectLst/>
      </p:bgPr>
    </p:bg>
    <p:spTree>
      <p:nvGrpSpPr>
        <p:cNvPr id="1" name=""/>
        <p:cNvGrpSpPr/>
        <p:nvPr/>
      </p:nvGrpSpPr>
      <p:grpSpPr/>
      <p:sp>
        <p:nvSpPr>
          <p:cNvPr id="2" name="TextBox 1"/>
          <p:cNvSpPr txBox="1"/>
          <p:nvPr/>
        </p:nvSpPr>
        <p:spPr>
          <a:xfrm>
            <a:off x="603504" y="310896"/>
            <a:ext cx="8961120" cy="256032"/>
          </a:xfrm>
          <a:prstGeom prst="rect">
            <a:avLst/>
          </a:prstGeom>
          <a:noFill/>
        </p:spPr>
        <p:txBody>
          <a:bodyPr wrap="square" lIns="27432" rIns="27432" tIns="27432" bIns="27432" anchor="t">
            <a:spAutoFit/>
          </a:bodyPr>
          <a:lstStyle/>
          <a:p>
            <a:pPr algn="l">
              <a:spcAft>
                <a:spcPts val="300"/>
              </a:spcAft>
              <a:defRPr sz="900" b="1">
                <a:solidFill>
                  <a:srgbClr val="2D745C"/>
                </a:solidFill>
                <a:latin typeface="DejaVu Sans"/>
              </a:defRPr>
            </a:pPr>
            <a:r>
              <a:t>05 / EVALUATION</a:t>
            </a:r>
          </a:p>
        </p:txBody>
      </p:sp>
      <p:sp>
        <p:nvSpPr>
          <p:cNvPr id="3" name="TextBox 2"/>
          <p:cNvSpPr txBox="1"/>
          <p:nvPr/>
        </p:nvSpPr>
        <p:spPr>
          <a:xfrm>
            <a:off x="603504" y="658368"/>
            <a:ext cx="10927080" cy="502920"/>
          </a:xfrm>
          <a:prstGeom prst="rect">
            <a:avLst/>
          </a:prstGeom>
          <a:noFill/>
        </p:spPr>
        <p:txBody>
          <a:bodyPr wrap="square" lIns="27432" rIns="27432" tIns="27432" bIns="27432" anchor="t">
            <a:spAutoFit/>
          </a:bodyPr>
          <a:lstStyle/>
          <a:p>
            <a:pPr algn="l">
              <a:spcAft>
                <a:spcPts val="300"/>
              </a:spcAft>
              <a:defRPr sz="2500" b="1">
                <a:solidFill>
                  <a:srgbClr val="1F302E"/>
                </a:solidFill>
                <a:latin typeface="DejaVu Sans"/>
              </a:defRPr>
            </a:pPr>
            <a:r>
              <a:t>Keep related samples together; test on held-out groups</a:t>
            </a:r>
          </a:p>
        </p:txBody>
      </p:sp>
      <p:cxnSp>
        <p:nvCxnSpPr>
          <p:cNvPr id="4" name="Connector 3"/>
          <p:cNvCxnSpPr/>
          <p:nvPr/>
        </p:nvCxnSpPr>
        <p:spPr>
          <a:xfrm>
            <a:off x="603504" y="1307592"/>
            <a:ext cx="10972800" cy="0"/>
          </a:xfrm>
          <a:prstGeom prst="line">
            <a:avLst/>
          </a:prstGeom>
          <a:ln w="12700">
            <a:solidFill>
              <a:srgbClr val="D9E0DB"/>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603504" y="6455664"/>
            <a:ext cx="10972800" cy="0"/>
          </a:xfrm>
          <a:prstGeom prst="line">
            <a:avLst/>
          </a:prstGeom>
          <a:ln w="8890">
            <a:solidFill>
              <a:srgbClr val="D9E0DB"/>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21792" y="6492240"/>
            <a:ext cx="10241280" cy="173736"/>
          </a:xfrm>
          <a:prstGeom prst="rect">
            <a:avLst/>
          </a:prstGeom>
          <a:noFill/>
        </p:spPr>
        <p:txBody>
          <a:bodyPr wrap="square" lIns="27432" rIns="27432" tIns="27432" bIns="27432" anchor="t">
            <a:spAutoFit/>
          </a:bodyPr>
          <a:lstStyle/>
          <a:p>
            <a:pPr algn="l">
              <a:spcAft>
                <a:spcPts val="300"/>
              </a:spcAft>
              <a:defRPr sz="730" b="0">
                <a:solidFill>
                  <a:srgbClr val="61716D"/>
                </a:solidFill>
                <a:latin typeface="DejaVu Sans"/>
              </a:defRPr>
            </a:pPr>
            <a:r>
              <a:t>Source: src/train_compare.py; cv_metrics.json</a:t>
            </a:r>
          </a:p>
        </p:txBody>
      </p:sp>
      <p:sp>
        <p:nvSpPr>
          <p:cNvPr id="7" name="TextBox 6"/>
          <p:cNvSpPr txBox="1"/>
          <p:nvPr/>
        </p:nvSpPr>
        <p:spPr>
          <a:xfrm>
            <a:off x="10991088" y="6473952"/>
            <a:ext cx="530352" cy="182880"/>
          </a:xfrm>
          <a:prstGeom prst="rect">
            <a:avLst/>
          </a:prstGeom>
          <a:noFill/>
        </p:spPr>
        <p:txBody>
          <a:bodyPr wrap="square" lIns="27432" rIns="27432" tIns="27432" bIns="27432" anchor="t">
            <a:spAutoFit/>
          </a:bodyPr>
          <a:lstStyle/>
          <a:p>
            <a:pPr algn="r">
              <a:spcAft>
                <a:spcPts val="300"/>
              </a:spcAft>
              <a:defRPr sz="800" b="0">
                <a:solidFill>
                  <a:srgbClr val="61716D"/>
                </a:solidFill>
                <a:latin typeface="DejaVu Sans"/>
              </a:defRPr>
            </a:pPr>
            <a:r>
              <a:t>06</a:t>
            </a:r>
          </a:p>
        </p:txBody>
      </p:sp>
      <p:sp>
        <p:nvSpPr>
          <p:cNvPr id="8" name="Rounded Rectangle 7"/>
          <p:cNvSpPr/>
          <p:nvPr/>
        </p:nvSpPr>
        <p:spPr>
          <a:xfrm>
            <a:off x="841248" y="1700784"/>
            <a:ext cx="2331720" cy="932688"/>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41248" y="1700784"/>
            <a:ext cx="64008" cy="932688"/>
          </a:xfrm>
          <a:prstGeom prst="rect">
            <a:avLst/>
          </a:prstGeom>
          <a:solidFill>
            <a:srgbClr val="2D74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4128" y="1792224"/>
            <a:ext cx="2039112" cy="420624"/>
          </a:xfrm>
          <a:prstGeom prst="rect">
            <a:avLst/>
          </a:prstGeom>
          <a:noFill/>
        </p:spPr>
        <p:txBody>
          <a:bodyPr wrap="square" lIns="27432" rIns="27432" tIns="27432" bIns="27432" anchor="t">
            <a:spAutoFit/>
          </a:bodyPr>
          <a:lstStyle/>
          <a:p>
            <a:pPr algn="l">
              <a:spcAft>
                <a:spcPts val="300"/>
              </a:spcAft>
              <a:defRPr sz="2300" b="1">
                <a:solidFill>
                  <a:srgbClr val="2D745C"/>
                </a:solidFill>
                <a:latin typeface="DejaVu Sans"/>
              </a:defRPr>
            </a:pPr>
            <a:r>
              <a:t>5-fold</a:t>
            </a:r>
          </a:p>
        </p:txBody>
      </p:sp>
      <p:sp>
        <p:nvSpPr>
          <p:cNvPr id="11" name="TextBox 10"/>
          <p:cNvSpPr txBox="1"/>
          <p:nvPr/>
        </p:nvSpPr>
        <p:spPr>
          <a:xfrm>
            <a:off x="1024128" y="2240280"/>
            <a:ext cx="2039112" cy="246888"/>
          </a:xfrm>
          <a:prstGeom prst="rect">
            <a:avLst/>
          </a:prstGeom>
          <a:noFill/>
        </p:spPr>
        <p:txBody>
          <a:bodyPr wrap="square" lIns="27432" rIns="27432" tIns="27432" bIns="27432" anchor="t">
            <a:spAutoFit/>
          </a:bodyPr>
          <a:lstStyle/>
          <a:p>
            <a:pPr algn="l">
              <a:spcAft>
                <a:spcPts val="300"/>
              </a:spcAft>
              <a:defRPr sz="1000" b="1">
                <a:solidFill>
                  <a:srgbClr val="61716D"/>
                </a:solidFill>
                <a:latin typeface="DejaVu Sans"/>
              </a:defRPr>
            </a:pPr>
            <a:r>
              <a:t>STRATIFIED GROUP CV</a:t>
            </a:r>
          </a:p>
        </p:txBody>
      </p:sp>
      <p:sp>
        <p:nvSpPr>
          <p:cNvPr id="12" name="Rounded Rectangle 11"/>
          <p:cNvSpPr/>
          <p:nvPr/>
        </p:nvSpPr>
        <p:spPr>
          <a:xfrm>
            <a:off x="3310128" y="1700784"/>
            <a:ext cx="2331720" cy="932688"/>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310128" y="1700784"/>
            <a:ext cx="64008" cy="932688"/>
          </a:xfrm>
          <a:prstGeom prst="rect">
            <a:avLst/>
          </a:prstGeom>
          <a:solidFill>
            <a:srgbClr val="418C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493008" y="1792224"/>
            <a:ext cx="2039112" cy="420624"/>
          </a:xfrm>
          <a:prstGeom prst="rect">
            <a:avLst/>
          </a:prstGeom>
          <a:noFill/>
        </p:spPr>
        <p:txBody>
          <a:bodyPr wrap="square" lIns="27432" rIns="27432" tIns="27432" bIns="27432" anchor="t">
            <a:spAutoFit/>
          </a:bodyPr>
          <a:lstStyle/>
          <a:p>
            <a:pPr algn="l">
              <a:spcAft>
                <a:spcPts val="300"/>
              </a:spcAft>
              <a:defRPr sz="2300" b="1">
                <a:solidFill>
                  <a:srgbClr val="418C98"/>
                </a:solidFill>
                <a:latin typeface="DejaVu Sans"/>
              </a:defRPr>
            </a:pPr>
            <a:r>
              <a:t>57</a:t>
            </a:r>
          </a:p>
        </p:txBody>
      </p:sp>
      <p:sp>
        <p:nvSpPr>
          <p:cNvPr id="15" name="TextBox 14"/>
          <p:cNvSpPr txBox="1"/>
          <p:nvPr/>
        </p:nvSpPr>
        <p:spPr>
          <a:xfrm>
            <a:off x="3493008" y="2240280"/>
            <a:ext cx="2039112" cy="246888"/>
          </a:xfrm>
          <a:prstGeom prst="rect">
            <a:avLst/>
          </a:prstGeom>
          <a:noFill/>
        </p:spPr>
        <p:txBody>
          <a:bodyPr wrap="square" lIns="27432" rIns="27432" tIns="27432" bIns="27432" anchor="t">
            <a:spAutoFit/>
          </a:bodyPr>
          <a:lstStyle/>
          <a:p>
            <a:pPr algn="l">
              <a:spcAft>
                <a:spcPts val="300"/>
              </a:spcAft>
              <a:defRPr sz="1000" b="1">
                <a:solidFill>
                  <a:srgbClr val="61716D"/>
                </a:solidFill>
                <a:latin typeface="DejaVu Sans"/>
              </a:defRPr>
            </a:pPr>
            <a:r>
              <a:t>INDEPENDENT GROUPS</a:t>
            </a:r>
          </a:p>
        </p:txBody>
      </p:sp>
      <p:sp>
        <p:nvSpPr>
          <p:cNvPr id="16" name="Rounded Rectangle 15"/>
          <p:cNvSpPr/>
          <p:nvPr/>
        </p:nvSpPr>
        <p:spPr>
          <a:xfrm>
            <a:off x="5779008" y="1700784"/>
            <a:ext cx="2331720" cy="932688"/>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779008" y="1700784"/>
            <a:ext cx="64008" cy="932688"/>
          </a:xfrm>
          <a:prstGeom prst="rect">
            <a:avLst/>
          </a:prstGeom>
          <a:solidFill>
            <a:srgbClr val="C995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61888" y="1792224"/>
            <a:ext cx="2039112" cy="420624"/>
          </a:xfrm>
          <a:prstGeom prst="rect">
            <a:avLst/>
          </a:prstGeom>
          <a:noFill/>
        </p:spPr>
        <p:txBody>
          <a:bodyPr wrap="square" lIns="27432" rIns="27432" tIns="27432" bIns="27432" anchor="t">
            <a:spAutoFit/>
          </a:bodyPr>
          <a:lstStyle/>
          <a:p>
            <a:pPr algn="l">
              <a:spcAft>
                <a:spcPts val="300"/>
              </a:spcAft>
              <a:defRPr sz="2300" b="1">
                <a:solidFill>
                  <a:srgbClr val="C99537"/>
                </a:solidFill>
                <a:latin typeface="DejaVu Sans"/>
              </a:defRPr>
            </a:pPr>
            <a:r>
              <a:t>500</a:t>
            </a:r>
          </a:p>
        </p:txBody>
      </p:sp>
      <p:sp>
        <p:nvSpPr>
          <p:cNvPr id="19" name="TextBox 18"/>
          <p:cNvSpPr txBox="1"/>
          <p:nvPr/>
        </p:nvSpPr>
        <p:spPr>
          <a:xfrm>
            <a:off x="5961888" y="2240280"/>
            <a:ext cx="2039112" cy="246888"/>
          </a:xfrm>
          <a:prstGeom prst="rect">
            <a:avLst/>
          </a:prstGeom>
          <a:noFill/>
        </p:spPr>
        <p:txBody>
          <a:bodyPr wrap="square" lIns="27432" rIns="27432" tIns="27432" bIns="27432" anchor="t">
            <a:spAutoFit/>
          </a:bodyPr>
          <a:lstStyle/>
          <a:p>
            <a:pPr algn="l">
              <a:spcAft>
                <a:spcPts val="300"/>
              </a:spcAft>
              <a:defRPr sz="1000" b="1">
                <a:solidFill>
                  <a:srgbClr val="61716D"/>
                </a:solidFill>
                <a:latin typeface="DejaVu Sans"/>
              </a:defRPr>
            </a:pPr>
            <a:r>
              <a:t>TREES / MODEL / FOLD</a:t>
            </a:r>
          </a:p>
        </p:txBody>
      </p:sp>
      <p:sp>
        <p:nvSpPr>
          <p:cNvPr id="20" name="Rounded Rectangle 19"/>
          <p:cNvSpPr/>
          <p:nvPr/>
        </p:nvSpPr>
        <p:spPr>
          <a:xfrm>
            <a:off x="8247888" y="1700784"/>
            <a:ext cx="3017520" cy="932688"/>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247888" y="1700784"/>
            <a:ext cx="64008" cy="932688"/>
          </a:xfrm>
          <a:prstGeom prst="rect">
            <a:avLst/>
          </a:prstGeom>
          <a:solidFill>
            <a:srgbClr val="D767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430767" y="1792224"/>
            <a:ext cx="2724912" cy="420624"/>
          </a:xfrm>
          <a:prstGeom prst="rect">
            <a:avLst/>
          </a:prstGeom>
          <a:noFill/>
        </p:spPr>
        <p:txBody>
          <a:bodyPr wrap="square" lIns="27432" rIns="27432" tIns="27432" bIns="27432" anchor="t">
            <a:spAutoFit/>
          </a:bodyPr>
          <a:lstStyle/>
          <a:p>
            <a:pPr algn="l">
              <a:spcAft>
                <a:spcPts val="300"/>
              </a:spcAft>
              <a:defRPr sz="2300" b="1">
                <a:solidFill>
                  <a:srgbClr val="D76751"/>
                </a:solidFill>
                <a:latin typeface="DejaVu Sans"/>
              </a:defRPr>
            </a:pPr>
            <a:r>
              <a:t>0</a:t>
            </a:r>
          </a:p>
        </p:txBody>
      </p:sp>
      <p:sp>
        <p:nvSpPr>
          <p:cNvPr id="23" name="TextBox 22"/>
          <p:cNvSpPr txBox="1"/>
          <p:nvPr/>
        </p:nvSpPr>
        <p:spPr>
          <a:xfrm>
            <a:off x="8430767" y="2240280"/>
            <a:ext cx="2724912" cy="246888"/>
          </a:xfrm>
          <a:prstGeom prst="rect">
            <a:avLst/>
          </a:prstGeom>
          <a:noFill/>
        </p:spPr>
        <p:txBody>
          <a:bodyPr wrap="square" lIns="27432" rIns="27432" tIns="27432" bIns="27432" anchor="t">
            <a:spAutoFit/>
          </a:bodyPr>
          <a:lstStyle/>
          <a:p>
            <a:pPr algn="l">
              <a:spcAft>
                <a:spcPts val="300"/>
              </a:spcAft>
              <a:defRPr sz="1000" b="1">
                <a:solidFill>
                  <a:srgbClr val="61716D"/>
                </a:solidFill>
                <a:latin typeface="DejaVu Sans"/>
              </a:defRPr>
            </a:pPr>
            <a:r>
              <a:t>GROUPS CROSSING FOLDS</a:t>
            </a:r>
          </a:p>
        </p:txBody>
      </p:sp>
      <p:sp>
        <p:nvSpPr>
          <p:cNvPr id="24" name="Rounded Rectangle 23"/>
          <p:cNvSpPr/>
          <p:nvPr/>
        </p:nvSpPr>
        <p:spPr>
          <a:xfrm>
            <a:off x="859536" y="3108960"/>
            <a:ext cx="4956048" cy="1892807"/>
          </a:xfrm>
          <a:prstGeom prst="roundRect">
            <a:avLst>
              <a:gd name="adj" fmla="val 8000"/>
            </a:avLst>
          </a:prstGeom>
          <a:solidFill>
            <a:srgbClr val="E2E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59536" y="3108960"/>
            <a:ext cx="64008" cy="1892807"/>
          </a:xfrm>
          <a:prstGeom prst="rect">
            <a:avLst/>
          </a:prstGeom>
          <a:solidFill>
            <a:srgbClr val="2D74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69848" y="3273552"/>
            <a:ext cx="4572000" cy="310896"/>
          </a:xfrm>
          <a:prstGeom prst="rect">
            <a:avLst/>
          </a:prstGeom>
          <a:noFill/>
        </p:spPr>
        <p:txBody>
          <a:bodyPr wrap="square" lIns="27432" rIns="27432" tIns="27432" bIns="27432" anchor="t">
            <a:spAutoFit/>
          </a:bodyPr>
          <a:lstStyle/>
          <a:p>
            <a:pPr algn="l">
              <a:spcAft>
                <a:spcPts val="300"/>
              </a:spcAft>
              <a:defRPr sz="1300" b="1">
                <a:solidFill>
                  <a:srgbClr val="2D745C"/>
                </a:solidFill>
                <a:latin typeface="DejaVu Sans"/>
              </a:defRPr>
            </a:pPr>
            <a:r>
              <a:t>GROUPING</a:t>
            </a:r>
          </a:p>
        </p:txBody>
      </p:sp>
      <p:sp>
        <p:nvSpPr>
          <p:cNvPr id="27" name="TextBox 26"/>
          <p:cNvSpPr txBox="1"/>
          <p:nvPr/>
        </p:nvSpPr>
        <p:spPr>
          <a:xfrm>
            <a:off x="1069848" y="3657600"/>
            <a:ext cx="4572000" cy="1197863"/>
          </a:xfrm>
          <a:prstGeom prst="rect">
            <a:avLst/>
          </a:prstGeom>
          <a:noFill/>
        </p:spPr>
        <p:txBody>
          <a:bodyPr wrap="square" lIns="27432" rIns="27432" tIns="27432" bIns="27432" anchor="t">
            <a:spAutoFit/>
          </a:bodyPr>
          <a:lstStyle/>
          <a:p>
            <a:pPr algn="l">
              <a:spcAft>
                <a:spcPts val="300"/>
              </a:spcAft>
              <a:defRPr sz="1200" b="0">
                <a:solidFill>
                  <a:srgbClr val="1F302E"/>
                </a:solidFill>
                <a:latin typeface="DejaVu Sans"/>
              </a:defRPr>
            </a:pPr>
            <a:r>
              <a:t>Malware: same source signature stays in one fold.</a:t>
            </a:r>
          </a:p>
          <a:p>
            <a:pPr algn="l">
              <a:spcAft>
                <a:spcPts val="300"/>
              </a:spcAft>
              <a:defRPr sz="1200" b="0">
                <a:solidFill>
                  <a:srgbClr val="1F302E"/>
                </a:solidFill>
                <a:latin typeface="DejaVu Sans"/>
              </a:defRPr>
            </a:pPr>
            <a:r>
              <a:t>Benign: same package family stays in one fold.</a:t>
            </a:r>
          </a:p>
        </p:txBody>
      </p:sp>
      <p:sp>
        <p:nvSpPr>
          <p:cNvPr id="28" name="Rounded Rectangle 27"/>
          <p:cNvSpPr/>
          <p:nvPr/>
        </p:nvSpPr>
        <p:spPr>
          <a:xfrm>
            <a:off x="6199632" y="3108960"/>
            <a:ext cx="4956048" cy="1892807"/>
          </a:xfrm>
          <a:prstGeom prst="roundRect">
            <a:avLst>
              <a:gd name="adj" fmla="val 8000"/>
            </a:avLst>
          </a:prstGeom>
          <a:solidFill>
            <a:srgbClr val="E2EF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199632" y="3108960"/>
            <a:ext cx="64008" cy="1892807"/>
          </a:xfrm>
          <a:prstGeom prst="rect">
            <a:avLst/>
          </a:prstGeom>
          <a:solidFill>
            <a:srgbClr val="418C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09944" y="3273552"/>
            <a:ext cx="4572000" cy="310896"/>
          </a:xfrm>
          <a:prstGeom prst="rect">
            <a:avLst/>
          </a:prstGeom>
          <a:noFill/>
        </p:spPr>
        <p:txBody>
          <a:bodyPr wrap="square" lIns="27432" rIns="27432" tIns="27432" bIns="27432" anchor="t">
            <a:spAutoFit/>
          </a:bodyPr>
          <a:lstStyle/>
          <a:p>
            <a:pPr algn="l">
              <a:spcAft>
                <a:spcPts val="300"/>
              </a:spcAft>
              <a:defRPr sz="1300" b="1">
                <a:solidFill>
                  <a:srgbClr val="418C98"/>
                </a:solidFill>
                <a:latin typeface="DejaVu Sans"/>
              </a:defRPr>
            </a:pPr>
            <a:r>
              <a:t>MODEL PIPELINE</a:t>
            </a:r>
          </a:p>
        </p:txBody>
      </p:sp>
      <p:sp>
        <p:nvSpPr>
          <p:cNvPr id="31" name="TextBox 30"/>
          <p:cNvSpPr txBox="1"/>
          <p:nvPr/>
        </p:nvSpPr>
        <p:spPr>
          <a:xfrm>
            <a:off x="6409944" y="3657600"/>
            <a:ext cx="4572000" cy="1197863"/>
          </a:xfrm>
          <a:prstGeom prst="rect">
            <a:avLst/>
          </a:prstGeom>
          <a:noFill/>
        </p:spPr>
        <p:txBody>
          <a:bodyPr wrap="square" lIns="27432" rIns="27432" tIns="27432" bIns="27432" anchor="t">
            <a:spAutoFit/>
          </a:bodyPr>
          <a:lstStyle/>
          <a:p>
            <a:pPr algn="l">
              <a:spcAft>
                <a:spcPts val="300"/>
              </a:spcAft>
              <a:defRPr sz="1200" b="0">
                <a:solidFill>
                  <a:srgbClr val="1F302E"/>
                </a:solidFill>
                <a:latin typeface="DejaVu Sans"/>
              </a:defRPr>
            </a:pPr>
            <a:r>
              <a:t>Fold-local median imputation → Random Forest.</a:t>
            </a:r>
          </a:p>
          <a:p>
            <a:pPr algn="l">
              <a:spcAft>
                <a:spcPts val="300"/>
              </a:spcAft>
              <a:defRPr sz="1200" b="0">
                <a:solidFill>
                  <a:srgbClr val="1F302E"/>
                </a:solidFill>
                <a:latin typeface="DejaVu Sans"/>
              </a:defRPr>
            </a:pPr>
            <a:r>
              <a:t>Same splits and settings for all three feature sets.</a:t>
            </a:r>
          </a:p>
        </p:txBody>
      </p:sp>
      <p:sp>
        <p:nvSpPr>
          <p:cNvPr id="32" name="TextBox 31"/>
          <p:cNvSpPr txBox="1"/>
          <p:nvPr/>
        </p:nvSpPr>
        <p:spPr>
          <a:xfrm>
            <a:off x="914400" y="5394960"/>
            <a:ext cx="10424160" cy="338328"/>
          </a:xfrm>
          <a:prstGeom prst="rect">
            <a:avLst/>
          </a:prstGeom>
          <a:noFill/>
        </p:spPr>
        <p:txBody>
          <a:bodyPr wrap="square" lIns="27432" rIns="27432" tIns="27432" bIns="27432" anchor="t">
            <a:spAutoFit/>
          </a:bodyPr>
          <a:lstStyle/>
          <a:p>
            <a:pPr algn="ctr">
              <a:spcAft>
                <a:spcPts val="300"/>
              </a:spcAft>
              <a:defRPr sz="1120" b="1">
                <a:solidFill>
                  <a:srgbClr val="1F302E"/>
                </a:solidFill>
                <a:latin typeface="DejaVu Sans"/>
              </a:defRPr>
            </a:pPr>
            <a:r>
              <a:t>Report pooled out-of-fold metrics from held-out predictions; never score a model on its training rows.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4F4EF"/>
        </a:solidFill>
        <a:effectLst/>
      </p:bgPr>
    </p:bg>
    <p:spTree>
      <p:nvGrpSpPr>
        <p:cNvPr id="1" name=""/>
        <p:cNvGrpSpPr/>
        <p:nvPr/>
      </p:nvGrpSpPr>
      <p:grpSpPr/>
      <p:sp>
        <p:nvSpPr>
          <p:cNvPr id="2" name="TextBox 1"/>
          <p:cNvSpPr txBox="1"/>
          <p:nvPr/>
        </p:nvSpPr>
        <p:spPr>
          <a:xfrm>
            <a:off x="603504" y="310896"/>
            <a:ext cx="8961120" cy="256032"/>
          </a:xfrm>
          <a:prstGeom prst="rect">
            <a:avLst/>
          </a:prstGeom>
          <a:noFill/>
        </p:spPr>
        <p:txBody>
          <a:bodyPr wrap="square" lIns="27432" rIns="27432" tIns="27432" bIns="27432" anchor="t">
            <a:spAutoFit/>
          </a:bodyPr>
          <a:lstStyle/>
          <a:p>
            <a:pPr algn="l">
              <a:spcAft>
                <a:spcPts val="300"/>
              </a:spcAft>
              <a:defRPr sz="900" b="1">
                <a:solidFill>
                  <a:srgbClr val="2D745C"/>
                </a:solidFill>
                <a:latin typeface="DejaVu Sans"/>
              </a:defRPr>
            </a:pPr>
            <a:r>
              <a:t>06 / RESULTS</a:t>
            </a:r>
          </a:p>
        </p:txBody>
      </p:sp>
      <p:sp>
        <p:nvSpPr>
          <p:cNvPr id="3" name="TextBox 2"/>
          <p:cNvSpPr txBox="1"/>
          <p:nvPr/>
        </p:nvSpPr>
        <p:spPr>
          <a:xfrm>
            <a:off x="603504" y="658368"/>
            <a:ext cx="10927080" cy="502920"/>
          </a:xfrm>
          <a:prstGeom prst="rect">
            <a:avLst/>
          </a:prstGeom>
          <a:noFill/>
        </p:spPr>
        <p:txBody>
          <a:bodyPr wrap="square" lIns="27432" rIns="27432" tIns="27432" bIns="27432" anchor="t">
            <a:spAutoFit/>
          </a:bodyPr>
          <a:lstStyle/>
          <a:p>
            <a:pPr algn="l">
              <a:spcAft>
                <a:spcPts val="300"/>
              </a:spcAft>
              <a:defRPr sz="2500" b="1">
                <a:solidFill>
                  <a:srgbClr val="1F302E"/>
                </a:solidFill>
                <a:latin typeface="DejaVu Sans"/>
              </a:defRPr>
            </a:pPr>
            <a:r>
              <a:t>Hybrid leads; the gain over host-only is modest</a:t>
            </a:r>
          </a:p>
        </p:txBody>
      </p:sp>
      <p:cxnSp>
        <p:nvCxnSpPr>
          <p:cNvPr id="4" name="Connector 3"/>
          <p:cNvCxnSpPr/>
          <p:nvPr/>
        </p:nvCxnSpPr>
        <p:spPr>
          <a:xfrm>
            <a:off x="603504" y="1307592"/>
            <a:ext cx="10972800" cy="0"/>
          </a:xfrm>
          <a:prstGeom prst="line">
            <a:avLst/>
          </a:prstGeom>
          <a:ln w="12700">
            <a:solidFill>
              <a:srgbClr val="D9E0DB"/>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603504" y="6455664"/>
            <a:ext cx="10972800" cy="0"/>
          </a:xfrm>
          <a:prstGeom prst="line">
            <a:avLst/>
          </a:prstGeom>
          <a:ln w="8890">
            <a:solidFill>
              <a:srgbClr val="D9E0DB"/>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21792" y="6492240"/>
            <a:ext cx="10241280" cy="173736"/>
          </a:xfrm>
          <a:prstGeom prst="rect">
            <a:avLst/>
          </a:prstGeom>
          <a:noFill/>
        </p:spPr>
        <p:txBody>
          <a:bodyPr wrap="square" lIns="27432" rIns="27432" tIns="27432" bIns="27432" anchor="t">
            <a:spAutoFit/>
          </a:bodyPr>
          <a:lstStyle/>
          <a:p>
            <a:pPr algn="l">
              <a:spcAft>
                <a:spcPts val="300"/>
              </a:spcAft>
              <a:defRPr sz="730" b="0">
                <a:solidFill>
                  <a:srgbClr val="61716D"/>
                </a:solidFill>
                <a:latin typeface="DejaVu Sans"/>
              </a:defRPr>
            </a:pPr>
            <a:r>
              <a:t>Source: current cohort cv_metrics.csv; 362 pooled OOF predictions per model</a:t>
            </a:r>
          </a:p>
        </p:txBody>
      </p:sp>
      <p:sp>
        <p:nvSpPr>
          <p:cNvPr id="7" name="TextBox 6"/>
          <p:cNvSpPr txBox="1"/>
          <p:nvPr/>
        </p:nvSpPr>
        <p:spPr>
          <a:xfrm>
            <a:off x="10991088" y="6473952"/>
            <a:ext cx="530352" cy="182880"/>
          </a:xfrm>
          <a:prstGeom prst="rect">
            <a:avLst/>
          </a:prstGeom>
          <a:noFill/>
        </p:spPr>
        <p:txBody>
          <a:bodyPr wrap="square" lIns="27432" rIns="27432" tIns="27432" bIns="27432" anchor="t">
            <a:spAutoFit/>
          </a:bodyPr>
          <a:lstStyle/>
          <a:p>
            <a:pPr algn="r">
              <a:spcAft>
                <a:spcPts val="300"/>
              </a:spcAft>
              <a:defRPr sz="800" b="0">
                <a:solidFill>
                  <a:srgbClr val="61716D"/>
                </a:solidFill>
                <a:latin typeface="DejaVu Sans"/>
              </a:defRPr>
            </a:pPr>
            <a:r>
              <a:t>07</a:t>
            </a:r>
          </a:p>
        </p:txBody>
      </p:sp>
      <p:sp>
        <p:nvSpPr>
          <p:cNvPr id="8" name="TextBox 7"/>
          <p:cNvSpPr txBox="1"/>
          <p:nvPr/>
        </p:nvSpPr>
        <p:spPr>
          <a:xfrm>
            <a:off x="850392" y="1554480"/>
            <a:ext cx="3840480" cy="256032"/>
          </a:xfrm>
          <a:prstGeom prst="rect">
            <a:avLst/>
          </a:prstGeom>
          <a:noFill/>
        </p:spPr>
        <p:txBody>
          <a:bodyPr wrap="square" lIns="27432" rIns="27432" tIns="27432" bIns="27432" anchor="t">
            <a:spAutoFit/>
          </a:bodyPr>
          <a:lstStyle/>
          <a:p>
            <a:pPr algn="l">
              <a:spcAft>
                <a:spcPts val="300"/>
              </a:spcAft>
              <a:defRPr sz="900" b="1">
                <a:solidFill>
                  <a:srgbClr val="61716D"/>
                </a:solidFill>
                <a:latin typeface="DejaVu Sans"/>
              </a:defRPr>
            </a:pPr>
            <a:r>
              <a:t>POOLED OUT-OF-FOLD SCORE</a:t>
            </a:r>
          </a:p>
        </p:txBody>
      </p:sp>
      <p:cxnSp>
        <p:nvCxnSpPr>
          <p:cNvPr id="9" name="Connector 8"/>
          <p:cNvCxnSpPr/>
          <p:nvPr/>
        </p:nvCxnSpPr>
        <p:spPr>
          <a:xfrm>
            <a:off x="3977639" y="1874519"/>
            <a:ext cx="0" cy="3383281"/>
          </a:xfrm>
          <a:prstGeom prst="line">
            <a:avLst/>
          </a:prstGeom>
          <a:ln w="7620">
            <a:solidFill>
              <a:srgbClr val="D9E0DB"/>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3749039" y="1682496"/>
            <a:ext cx="457200" cy="146304"/>
          </a:xfrm>
          <a:prstGeom prst="rect">
            <a:avLst/>
          </a:prstGeom>
          <a:noFill/>
        </p:spPr>
        <p:txBody>
          <a:bodyPr wrap="square" lIns="27432" rIns="27432" tIns="27432" bIns="27432" anchor="t">
            <a:spAutoFit/>
          </a:bodyPr>
          <a:lstStyle/>
          <a:p>
            <a:pPr algn="ctr">
              <a:spcAft>
                <a:spcPts val="300"/>
              </a:spcAft>
              <a:defRPr sz="800" b="0">
                <a:solidFill>
                  <a:srgbClr val="61716D"/>
                </a:solidFill>
                <a:latin typeface="DejaVu Sans"/>
              </a:defRPr>
            </a:pPr>
            <a:r>
              <a:t>70%</a:t>
            </a:r>
          </a:p>
        </p:txBody>
      </p:sp>
      <p:cxnSp>
        <p:nvCxnSpPr>
          <p:cNvPr id="11" name="Connector 10"/>
          <p:cNvCxnSpPr/>
          <p:nvPr/>
        </p:nvCxnSpPr>
        <p:spPr>
          <a:xfrm>
            <a:off x="5882640" y="1874519"/>
            <a:ext cx="0" cy="3383281"/>
          </a:xfrm>
          <a:prstGeom prst="line">
            <a:avLst/>
          </a:prstGeom>
          <a:ln w="7620">
            <a:solidFill>
              <a:srgbClr val="D9E0D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5654040" y="1682496"/>
            <a:ext cx="457200" cy="146304"/>
          </a:xfrm>
          <a:prstGeom prst="rect">
            <a:avLst/>
          </a:prstGeom>
          <a:noFill/>
        </p:spPr>
        <p:txBody>
          <a:bodyPr wrap="square" lIns="27432" rIns="27432" tIns="27432" bIns="27432" anchor="t">
            <a:spAutoFit/>
          </a:bodyPr>
          <a:lstStyle/>
          <a:p>
            <a:pPr algn="ctr">
              <a:spcAft>
                <a:spcPts val="300"/>
              </a:spcAft>
              <a:defRPr sz="800" b="0">
                <a:solidFill>
                  <a:srgbClr val="61716D"/>
                </a:solidFill>
                <a:latin typeface="DejaVu Sans"/>
              </a:defRPr>
            </a:pPr>
            <a:r>
              <a:t>80%</a:t>
            </a:r>
          </a:p>
        </p:txBody>
      </p:sp>
      <p:cxnSp>
        <p:nvCxnSpPr>
          <p:cNvPr id="13" name="Connector 12"/>
          <p:cNvCxnSpPr/>
          <p:nvPr/>
        </p:nvCxnSpPr>
        <p:spPr>
          <a:xfrm>
            <a:off x="7787639" y="1874519"/>
            <a:ext cx="0" cy="3383281"/>
          </a:xfrm>
          <a:prstGeom prst="line">
            <a:avLst/>
          </a:prstGeom>
          <a:ln w="7620">
            <a:solidFill>
              <a:srgbClr val="D9E0DB"/>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7559039" y="1682496"/>
            <a:ext cx="457200" cy="146304"/>
          </a:xfrm>
          <a:prstGeom prst="rect">
            <a:avLst/>
          </a:prstGeom>
          <a:noFill/>
        </p:spPr>
        <p:txBody>
          <a:bodyPr wrap="square" lIns="27432" rIns="27432" tIns="27432" bIns="27432" anchor="t">
            <a:spAutoFit/>
          </a:bodyPr>
          <a:lstStyle/>
          <a:p>
            <a:pPr algn="ctr">
              <a:spcAft>
                <a:spcPts val="300"/>
              </a:spcAft>
              <a:defRPr sz="800" b="0">
                <a:solidFill>
                  <a:srgbClr val="61716D"/>
                </a:solidFill>
                <a:latin typeface="DejaVu Sans"/>
              </a:defRPr>
            </a:pPr>
            <a:r>
              <a:t>90%</a:t>
            </a:r>
          </a:p>
        </p:txBody>
      </p:sp>
      <p:cxnSp>
        <p:nvCxnSpPr>
          <p:cNvPr id="15" name="Connector 14"/>
          <p:cNvCxnSpPr/>
          <p:nvPr/>
        </p:nvCxnSpPr>
        <p:spPr>
          <a:xfrm>
            <a:off x="9692640" y="1874519"/>
            <a:ext cx="0" cy="3383281"/>
          </a:xfrm>
          <a:prstGeom prst="line">
            <a:avLst/>
          </a:prstGeom>
          <a:ln w="7620">
            <a:solidFill>
              <a:srgbClr val="D9E0DB"/>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9464040" y="1682496"/>
            <a:ext cx="457200" cy="146304"/>
          </a:xfrm>
          <a:prstGeom prst="rect">
            <a:avLst/>
          </a:prstGeom>
          <a:noFill/>
        </p:spPr>
        <p:txBody>
          <a:bodyPr wrap="square" lIns="27432" rIns="27432" tIns="27432" bIns="27432" anchor="t">
            <a:spAutoFit/>
          </a:bodyPr>
          <a:lstStyle/>
          <a:p>
            <a:pPr algn="ctr">
              <a:spcAft>
                <a:spcPts val="300"/>
              </a:spcAft>
              <a:defRPr sz="800" b="0">
                <a:solidFill>
                  <a:srgbClr val="61716D"/>
                </a:solidFill>
                <a:latin typeface="DejaVu Sans"/>
              </a:defRPr>
            </a:pPr>
            <a:r>
              <a:t>100%</a:t>
            </a:r>
          </a:p>
        </p:txBody>
      </p:sp>
      <p:sp>
        <p:nvSpPr>
          <p:cNvPr id="17" name="TextBox 16"/>
          <p:cNvSpPr txBox="1"/>
          <p:nvPr/>
        </p:nvSpPr>
        <p:spPr>
          <a:xfrm>
            <a:off x="841248" y="2304288"/>
            <a:ext cx="1600200" cy="292608"/>
          </a:xfrm>
          <a:prstGeom prst="rect">
            <a:avLst/>
          </a:prstGeom>
          <a:noFill/>
        </p:spPr>
        <p:txBody>
          <a:bodyPr wrap="square" lIns="27432" rIns="27432" tIns="27432" bIns="27432" anchor="t">
            <a:spAutoFit/>
          </a:bodyPr>
          <a:lstStyle/>
          <a:p>
            <a:pPr algn="l">
              <a:spcAft>
                <a:spcPts val="300"/>
              </a:spcAft>
              <a:defRPr sz="1300" b="1">
                <a:solidFill>
                  <a:srgbClr val="418C98"/>
                </a:solidFill>
                <a:latin typeface="DejaVu Sans"/>
              </a:defRPr>
            </a:pPr>
            <a:r>
              <a:t>Network</a:t>
            </a:r>
          </a:p>
        </p:txBody>
      </p:sp>
      <p:sp>
        <p:nvSpPr>
          <p:cNvPr id="18" name="TextBox 17"/>
          <p:cNvSpPr txBox="1"/>
          <p:nvPr/>
        </p:nvSpPr>
        <p:spPr>
          <a:xfrm>
            <a:off x="2697480" y="2103120"/>
            <a:ext cx="1261872" cy="164592"/>
          </a:xfrm>
          <a:prstGeom prst="rect">
            <a:avLst/>
          </a:prstGeom>
          <a:noFill/>
        </p:spPr>
        <p:txBody>
          <a:bodyPr wrap="square" lIns="27432" rIns="27432" tIns="27432" bIns="27432" anchor="t">
            <a:spAutoFit/>
          </a:bodyPr>
          <a:lstStyle/>
          <a:p>
            <a:pPr algn="l">
              <a:spcAft>
                <a:spcPts val="300"/>
              </a:spcAft>
              <a:defRPr sz="830" b="0">
                <a:solidFill>
                  <a:srgbClr val="61716D"/>
                </a:solidFill>
                <a:latin typeface="DejaVu Sans"/>
              </a:defRPr>
            </a:pPr>
            <a:r>
              <a:t>Balanced accuracy</a:t>
            </a:r>
          </a:p>
        </p:txBody>
      </p:sp>
      <p:sp>
        <p:nvSpPr>
          <p:cNvPr id="19" name="Rectangle 18"/>
          <p:cNvSpPr/>
          <p:nvPr/>
        </p:nvSpPr>
        <p:spPr>
          <a:xfrm>
            <a:off x="3977639" y="2121408"/>
            <a:ext cx="5715000" cy="155448"/>
          </a:xfrm>
          <a:prstGeom prst="rect">
            <a:avLst/>
          </a:prstGeom>
          <a:solidFill>
            <a:srgbClr val="E7EB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977639" y="2121408"/>
            <a:ext cx="3318959" cy="155448"/>
          </a:xfrm>
          <a:prstGeom prst="rect">
            <a:avLst/>
          </a:prstGeom>
          <a:solidFill>
            <a:srgbClr val="418C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765792" y="2093976"/>
            <a:ext cx="512064" cy="182880"/>
          </a:xfrm>
          <a:prstGeom prst="rect">
            <a:avLst/>
          </a:prstGeom>
          <a:noFill/>
        </p:spPr>
        <p:txBody>
          <a:bodyPr wrap="square" lIns="27432" rIns="27432" tIns="27432" bIns="27432" anchor="t">
            <a:spAutoFit/>
          </a:bodyPr>
          <a:lstStyle/>
          <a:p>
            <a:pPr algn="l">
              <a:spcAft>
                <a:spcPts val="300"/>
              </a:spcAft>
              <a:defRPr sz="950" b="1">
                <a:solidFill>
                  <a:srgbClr val="418C98"/>
                </a:solidFill>
                <a:latin typeface="DejaVu Sans"/>
              </a:defRPr>
            </a:pPr>
            <a:r>
              <a:t>87.4%</a:t>
            </a:r>
          </a:p>
        </p:txBody>
      </p:sp>
      <p:sp>
        <p:nvSpPr>
          <p:cNvPr id="22" name="TextBox 21"/>
          <p:cNvSpPr txBox="1"/>
          <p:nvPr/>
        </p:nvSpPr>
        <p:spPr>
          <a:xfrm>
            <a:off x="2697480" y="2496312"/>
            <a:ext cx="1261872" cy="164592"/>
          </a:xfrm>
          <a:prstGeom prst="rect">
            <a:avLst/>
          </a:prstGeom>
          <a:noFill/>
        </p:spPr>
        <p:txBody>
          <a:bodyPr wrap="square" lIns="27432" rIns="27432" tIns="27432" bIns="27432" anchor="t">
            <a:spAutoFit/>
          </a:bodyPr>
          <a:lstStyle/>
          <a:p>
            <a:pPr algn="l">
              <a:spcAft>
                <a:spcPts val="300"/>
              </a:spcAft>
              <a:defRPr sz="830" b="0">
                <a:solidFill>
                  <a:srgbClr val="61716D"/>
                </a:solidFill>
                <a:latin typeface="DejaVu Sans"/>
              </a:defRPr>
            </a:pPr>
            <a:r>
              <a:t>ROC-AUC</a:t>
            </a:r>
          </a:p>
        </p:txBody>
      </p:sp>
      <p:sp>
        <p:nvSpPr>
          <p:cNvPr id="23" name="Rectangle 22"/>
          <p:cNvSpPr/>
          <p:nvPr/>
        </p:nvSpPr>
        <p:spPr>
          <a:xfrm>
            <a:off x="3977639" y="2514600"/>
            <a:ext cx="5715000" cy="155448"/>
          </a:xfrm>
          <a:prstGeom prst="rect">
            <a:avLst/>
          </a:prstGeom>
          <a:solidFill>
            <a:srgbClr val="E7EB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977639" y="2514600"/>
            <a:ext cx="4363529" cy="155448"/>
          </a:xfrm>
          <a:prstGeom prst="rect">
            <a:avLst/>
          </a:prstGeom>
          <a:solidFill>
            <a:srgbClr val="418C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765792" y="2487168"/>
            <a:ext cx="512064" cy="182880"/>
          </a:xfrm>
          <a:prstGeom prst="rect">
            <a:avLst/>
          </a:prstGeom>
          <a:noFill/>
        </p:spPr>
        <p:txBody>
          <a:bodyPr wrap="square" lIns="27432" rIns="27432" tIns="27432" bIns="27432" anchor="t">
            <a:spAutoFit/>
          </a:bodyPr>
          <a:lstStyle/>
          <a:p>
            <a:pPr algn="l">
              <a:spcAft>
                <a:spcPts val="300"/>
              </a:spcAft>
              <a:defRPr sz="950" b="1">
                <a:solidFill>
                  <a:srgbClr val="418C98"/>
                </a:solidFill>
                <a:latin typeface="DejaVu Sans"/>
              </a:defRPr>
            </a:pPr>
            <a:r>
              <a:t>92.9%</a:t>
            </a:r>
          </a:p>
        </p:txBody>
      </p:sp>
      <p:sp>
        <p:nvSpPr>
          <p:cNvPr id="26" name="TextBox 25"/>
          <p:cNvSpPr txBox="1"/>
          <p:nvPr/>
        </p:nvSpPr>
        <p:spPr>
          <a:xfrm>
            <a:off x="841248" y="3273552"/>
            <a:ext cx="1600200" cy="292608"/>
          </a:xfrm>
          <a:prstGeom prst="rect">
            <a:avLst/>
          </a:prstGeom>
          <a:noFill/>
        </p:spPr>
        <p:txBody>
          <a:bodyPr wrap="square" lIns="27432" rIns="27432" tIns="27432" bIns="27432" anchor="t">
            <a:spAutoFit/>
          </a:bodyPr>
          <a:lstStyle/>
          <a:p>
            <a:pPr algn="l">
              <a:spcAft>
                <a:spcPts val="300"/>
              </a:spcAft>
              <a:defRPr sz="1300" b="1">
                <a:solidFill>
                  <a:srgbClr val="2D745C"/>
                </a:solidFill>
                <a:latin typeface="DejaVu Sans"/>
              </a:defRPr>
            </a:pPr>
            <a:r>
              <a:t>Host / eBPF</a:t>
            </a:r>
          </a:p>
        </p:txBody>
      </p:sp>
      <p:sp>
        <p:nvSpPr>
          <p:cNvPr id="27" name="TextBox 26"/>
          <p:cNvSpPr txBox="1"/>
          <p:nvPr/>
        </p:nvSpPr>
        <p:spPr>
          <a:xfrm>
            <a:off x="2697480" y="3072384"/>
            <a:ext cx="1261872" cy="164592"/>
          </a:xfrm>
          <a:prstGeom prst="rect">
            <a:avLst/>
          </a:prstGeom>
          <a:noFill/>
        </p:spPr>
        <p:txBody>
          <a:bodyPr wrap="square" lIns="27432" rIns="27432" tIns="27432" bIns="27432" anchor="t">
            <a:spAutoFit/>
          </a:bodyPr>
          <a:lstStyle/>
          <a:p>
            <a:pPr algn="l">
              <a:spcAft>
                <a:spcPts val="300"/>
              </a:spcAft>
              <a:defRPr sz="830" b="0">
                <a:solidFill>
                  <a:srgbClr val="61716D"/>
                </a:solidFill>
                <a:latin typeface="DejaVu Sans"/>
              </a:defRPr>
            </a:pPr>
            <a:r>
              <a:t>Balanced accuracy</a:t>
            </a:r>
          </a:p>
        </p:txBody>
      </p:sp>
      <p:sp>
        <p:nvSpPr>
          <p:cNvPr id="28" name="Rectangle 27"/>
          <p:cNvSpPr/>
          <p:nvPr/>
        </p:nvSpPr>
        <p:spPr>
          <a:xfrm>
            <a:off x="3977639" y="3090672"/>
            <a:ext cx="5715000" cy="155448"/>
          </a:xfrm>
          <a:prstGeom prst="rect">
            <a:avLst/>
          </a:prstGeom>
          <a:solidFill>
            <a:srgbClr val="E7EB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3977639" y="3090672"/>
            <a:ext cx="4158313" cy="155448"/>
          </a:xfrm>
          <a:prstGeom prst="rect">
            <a:avLst/>
          </a:prstGeom>
          <a:solidFill>
            <a:srgbClr val="2D74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765792" y="3063240"/>
            <a:ext cx="512064" cy="182880"/>
          </a:xfrm>
          <a:prstGeom prst="rect">
            <a:avLst/>
          </a:prstGeom>
          <a:noFill/>
        </p:spPr>
        <p:txBody>
          <a:bodyPr wrap="square" lIns="27432" rIns="27432" tIns="27432" bIns="27432" anchor="t">
            <a:spAutoFit/>
          </a:bodyPr>
          <a:lstStyle/>
          <a:p>
            <a:pPr algn="l">
              <a:spcAft>
                <a:spcPts val="300"/>
              </a:spcAft>
              <a:defRPr sz="950" b="1">
                <a:solidFill>
                  <a:srgbClr val="2D745C"/>
                </a:solidFill>
                <a:latin typeface="DejaVu Sans"/>
              </a:defRPr>
            </a:pPr>
            <a:r>
              <a:t>91.8%</a:t>
            </a:r>
          </a:p>
        </p:txBody>
      </p:sp>
      <p:sp>
        <p:nvSpPr>
          <p:cNvPr id="31" name="TextBox 30"/>
          <p:cNvSpPr txBox="1"/>
          <p:nvPr/>
        </p:nvSpPr>
        <p:spPr>
          <a:xfrm>
            <a:off x="2697480" y="3465576"/>
            <a:ext cx="1261872" cy="164592"/>
          </a:xfrm>
          <a:prstGeom prst="rect">
            <a:avLst/>
          </a:prstGeom>
          <a:noFill/>
        </p:spPr>
        <p:txBody>
          <a:bodyPr wrap="square" lIns="27432" rIns="27432" tIns="27432" bIns="27432" anchor="t">
            <a:spAutoFit/>
          </a:bodyPr>
          <a:lstStyle/>
          <a:p>
            <a:pPr algn="l">
              <a:spcAft>
                <a:spcPts val="300"/>
              </a:spcAft>
              <a:defRPr sz="830" b="0">
                <a:solidFill>
                  <a:srgbClr val="61716D"/>
                </a:solidFill>
                <a:latin typeface="DejaVu Sans"/>
              </a:defRPr>
            </a:pPr>
            <a:r>
              <a:t>ROC-AUC</a:t>
            </a:r>
          </a:p>
        </p:txBody>
      </p:sp>
      <p:sp>
        <p:nvSpPr>
          <p:cNvPr id="32" name="Rectangle 31"/>
          <p:cNvSpPr/>
          <p:nvPr/>
        </p:nvSpPr>
        <p:spPr>
          <a:xfrm>
            <a:off x="3977639" y="3483864"/>
            <a:ext cx="5715000" cy="155448"/>
          </a:xfrm>
          <a:prstGeom prst="rect">
            <a:avLst/>
          </a:prstGeom>
          <a:solidFill>
            <a:srgbClr val="E7EB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977639" y="3483864"/>
            <a:ext cx="5262044" cy="155448"/>
          </a:xfrm>
          <a:prstGeom prst="rect">
            <a:avLst/>
          </a:prstGeom>
          <a:solidFill>
            <a:srgbClr val="2D74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765792" y="3456432"/>
            <a:ext cx="512064" cy="182880"/>
          </a:xfrm>
          <a:prstGeom prst="rect">
            <a:avLst/>
          </a:prstGeom>
          <a:noFill/>
        </p:spPr>
        <p:txBody>
          <a:bodyPr wrap="square" lIns="27432" rIns="27432" tIns="27432" bIns="27432" anchor="t">
            <a:spAutoFit/>
          </a:bodyPr>
          <a:lstStyle/>
          <a:p>
            <a:pPr algn="l">
              <a:spcAft>
                <a:spcPts val="300"/>
              </a:spcAft>
              <a:defRPr sz="950" b="1">
                <a:solidFill>
                  <a:srgbClr val="2D745C"/>
                </a:solidFill>
                <a:latin typeface="DejaVu Sans"/>
              </a:defRPr>
            </a:pPr>
            <a:r>
              <a:t>97.6%</a:t>
            </a:r>
          </a:p>
        </p:txBody>
      </p:sp>
      <p:sp>
        <p:nvSpPr>
          <p:cNvPr id="35" name="TextBox 34"/>
          <p:cNvSpPr txBox="1"/>
          <p:nvPr/>
        </p:nvSpPr>
        <p:spPr>
          <a:xfrm>
            <a:off x="841248" y="4242816"/>
            <a:ext cx="1600200" cy="292608"/>
          </a:xfrm>
          <a:prstGeom prst="rect">
            <a:avLst/>
          </a:prstGeom>
          <a:noFill/>
        </p:spPr>
        <p:txBody>
          <a:bodyPr wrap="square" lIns="27432" rIns="27432" tIns="27432" bIns="27432" anchor="t">
            <a:spAutoFit/>
          </a:bodyPr>
          <a:lstStyle/>
          <a:p>
            <a:pPr algn="l">
              <a:spcAft>
                <a:spcPts val="300"/>
              </a:spcAft>
              <a:defRPr sz="1300" b="1">
                <a:solidFill>
                  <a:srgbClr val="D76751"/>
                </a:solidFill>
                <a:latin typeface="DejaVu Sans"/>
              </a:defRPr>
            </a:pPr>
            <a:r>
              <a:t>Hybrid</a:t>
            </a:r>
          </a:p>
        </p:txBody>
      </p:sp>
      <p:sp>
        <p:nvSpPr>
          <p:cNvPr id="36" name="TextBox 35"/>
          <p:cNvSpPr txBox="1"/>
          <p:nvPr/>
        </p:nvSpPr>
        <p:spPr>
          <a:xfrm>
            <a:off x="2697480" y="4041648"/>
            <a:ext cx="1261872" cy="164592"/>
          </a:xfrm>
          <a:prstGeom prst="rect">
            <a:avLst/>
          </a:prstGeom>
          <a:noFill/>
        </p:spPr>
        <p:txBody>
          <a:bodyPr wrap="square" lIns="27432" rIns="27432" tIns="27432" bIns="27432" anchor="t">
            <a:spAutoFit/>
          </a:bodyPr>
          <a:lstStyle/>
          <a:p>
            <a:pPr algn="l">
              <a:spcAft>
                <a:spcPts val="300"/>
              </a:spcAft>
              <a:defRPr sz="830" b="0">
                <a:solidFill>
                  <a:srgbClr val="61716D"/>
                </a:solidFill>
                <a:latin typeface="DejaVu Sans"/>
              </a:defRPr>
            </a:pPr>
            <a:r>
              <a:t>Balanced accuracy</a:t>
            </a:r>
          </a:p>
        </p:txBody>
      </p:sp>
      <p:sp>
        <p:nvSpPr>
          <p:cNvPr id="37" name="Rectangle 36"/>
          <p:cNvSpPr/>
          <p:nvPr/>
        </p:nvSpPr>
        <p:spPr>
          <a:xfrm>
            <a:off x="3977639" y="4059936"/>
            <a:ext cx="5715000" cy="155448"/>
          </a:xfrm>
          <a:prstGeom prst="rect">
            <a:avLst/>
          </a:prstGeom>
          <a:solidFill>
            <a:srgbClr val="E7EB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3977639" y="4059936"/>
            <a:ext cx="4370924" cy="155448"/>
          </a:xfrm>
          <a:prstGeom prst="rect">
            <a:avLst/>
          </a:prstGeom>
          <a:solidFill>
            <a:srgbClr val="D767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765792" y="4032504"/>
            <a:ext cx="512064" cy="182880"/>
          </a:xfrm>
          <a:prstGeom prst="rect">
            <a:avLst/>
          </a:prstGeom>
          <a:noFill/>
        </p:spPr>
        <p:txBody>
          <a:bodyPr wrap="square" lIns="27432" rIns="27432" tIns="27432" bIns="27432" anchor="t">
            <a:spAutoFit/>
          </a:bodyPr>
          <a:lstStyle/>
          <a:p>
            <a:pPr algn="l">
              <a:spcAft>
                <a:spcPts val="300"/>
              </a:spcAft>
              <a:defRPr sz="950" b="1">
                <a:solidFill>
                  <a:srgbClr val="D76751"/>
                </a:solidFill>
                <a:latin typeface="DejaVu Sans"/>
              </a:defRPr>
            </a:pPr>
            <a:r>
              <a:t>92.9%</a:t>
            </a:r>
          </a:p>
        </p:txBody>
      </p:sp>
      <p:sp>
        <p:nvSpPr>
          <p:cNvPr id="40" name="TextBox 39"/>
          <p:cNvSpPr txBox="1"/>
          <p:nvPr/>
        </p:nvSpPr>
        <p:spPr>
          <a:xfrm>
            <a:off x="2697480" y="4434840"/>
            <a:ext cx="1261872" cy="164592"/>
          </a:xfrm>
          <a:prstGeom prst="rect">
            <a:avLst/>
          </a:prstGeom>
          <a:noFill/>
        </p:spPr>
        <p:txBody>
          <a:bodyPr wrap="square" lIns="27432" rIns="27432" tIns="27432" bIns="27432" anchor="t">
            <a:spAutoFit/>
          </a:bodyPr>
          <a:lstStyle/>
          <a:p>
            <a:pPr algn="l">
              <a:spcAft>
                <a:spcPts val="300"/>
              </a:spcAft>
              <a:defRPr sz="830" b="0">
                <a:solidFill>
                  <a:srgbClr val="61716D"/>
                </a:solidFill>
                <a:latin typeface="DejaVu Sans"/>
              </a:defRPr>
            </a:pPr>
            <a:r>
              <a:t>ROC-AUC</a:t>
            </a:r>
          </a:p>
        </p:txBody>
      </p:sp>
      <p:sp>
        <p:nvSpPr>
          <p:cNvPr id="41" name="Rectangle 40"/>
          <p:cNvSpPr/>
          <p:nvPr/>
        </p:nvSpPr>
        <p:spPr>
          <a:xfrm>
            <a:off x="3977639" y="4453128"/>
            <a:ext cx="5715000" cy="155448"/>
          </a:xfrm>
          <a:prstGeom prst="rect">
            <a:avLst/>
          </a:prstGeom>
          <a:solidFill>
            <a:srgbClr val="E7EB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3977639" y="4453128"/>
            <a:ext cx="5430901" cy="155448"/>
          </a:xfrm>
          <a:prstGeom prst="rect">
            <a:avLst/>
          </a:prstGeom>
          <a:solidFill>
            <a:srgbClr val="D767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765792" y="4425696"/>
            <a:ext cx="512064" cy="182880"/>
          </a:xfrm>
          <a:prstGeom prst="rect">
            <a:avLst/>
          </a:prstGeom>
          <a:noFill/>
        </p:spPr>
        <p:txBody>
          <a:bodyPr wrap="square" lIns="27432" rIns="27432" tIns="27432" bIns="27432" anchor="t">
            <a:spAutoFit/>
          </a:bodyPr>
          <a:lstStyle/>
          <a:p>
            <a:pPr algn="l">
              <a:spcAft>
                <a:spcPts val="300"/>
              </a:spcAft>
              <a:defRPr sz="950" b="1">
                <a:solidFill>
                  <a:srgbClr val="D76751"/>
                </a:solidFill>
                <a:latin typeface="DejaVu Sans"/>
              </a:defRPr>
            </a:pPr>
            <a:r>
              <a:t>98.5%</a:t>
            </a:r>
          </a:p>
        </p:txBody>
      </p:sp>
      <p:sp>
        <p:nvSpPr>
          <p:cNvPr id="44" name="Rounded Rectangle 43"/>
          <p:cNvSpPr/>
          <p:nvPr/>
        </p:nvSpPr>
        <p:spPr>
          <a:xfrm>
            <a:off x="932688" y="5248656"/>
            <a:ext cx="10149840" cy="548640"/>
          </a:xfrm>
          <a:prstGeom prst="roundRect">
            <a:avLst>
              <a:gd name="adj" fmla="val 8000"/>
            </a:avLst>
          </a:prstGeom>
          <a:solidFill>
            <a:srgbClr val="1F3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188720" y="5358384"/>
            <a:ext cx="9646920" cy="274320"/>
          </a:xfrm>
          <a:prstGeom prst="rect">
            <a:avLst/>
          </a:prstGeom>
          <a:noFill/>
        </p:spPr>
        <p:txBody>
          <a:bodyPr wrap="square" lIns="27432" rIns="27432" tIns="27432" bIns="27432" anchor="t">
            <a:spAutoFit/>
          </a:bodyPr>
          <a:lstStyle/>
          <a:p>
            <a:pPr algn="ctr">
              <a:spcAft>
                <a:spcPts val="300"/>
              </a:spcAft>
              <a:defRPr sz="1200" b="1">
                <a:solidFill>
                  <a:srgbClr val="FFFFFF"/>
                </a:solidFill>
                <a:latin typeface="DejaVu Sans"/>
              </a:defRPr>
            </a:pPr>
            <a:r>
              <a:t>Hybrid vs host: +1.1 pp balanced accuracy  ·  5 fewer malware misses  ·  same 9 false positives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4F4EF"/>
        </a:solidFill>
        <a:effectLst/>
      </p:bgPr>
    </p:bg>
    <p:spTree>
      <p:nvGrpSpPr>
        <p:cNvPr id="1" name=""/>
        <p:cNvGrpSpPr/>
        <p:nvPr/>
      </p:nvGrpSpPr>
      <p:grpSpPr/>
      <p:sp>
        <p:nvSpPr>
          <p:cNvPr id="2" name="TextBox 1"/>
          <p:cNvSpPr txBox="1"/>
          <p:nvPr/>
        </p:nvSpPr>
        <p:spPr>
          <a:xfrm>
            <a:off x="603504" y="310896"/>
            <a:ext cx="8961120" cy="256032"/>
          </a:xfrm>
          <a:prstGeom prst="rect">
            <a:avLst/>
          </a:prstGeom>
          <a:noFill/>
        </p:spPr>
        <p:txBody>
          <a:bodyPr wrap="square" lIns="27432" rIns="27432" tIns="27432" bIns="27432" anchor="t">
            <a:spAutoFit/>
          </a:bodyPr>
          <a:lstStyle/>
          <a:p>
            <a:pPr algn="l">
              <a:spcAft>
                <a:spcPts val="300"/>
              </a:spcAft>
              <a:defRPr sz="900" b="1">
                <a:solidFill>
                  <a:srgbClr val="2D745C"/>
                </a:solidFill>
                <a:latin typeface="DejaVu Sans"/>
              </a:defRPr>
            </a:pPr>
            <a:r>
              <a:t>07 / CATEGORY SLICES</a:t>
            </a:r>
          </a:p>
        </p:txBody>
      </p:sp>
      <p:sp>
        <p:nvSpPr>
          <p:cNvPr id="3" name="TextBox 2"/>
          <p:cNvSpPr txBox="1"/>
          <p:nvPr/>
        </p:nvSpPr>
        <p:spPr>
          <a:xfrm>
            <a:off x="603504" y="658368"/>
            <a:ext cx="10927080" cy="502920"/>
          </a:xfrm>
          <a:prstGeom prst="rect">
            <a:avLst/>
          </a:prstGeom>
          <a:noFill/>
        </p:spPr>
        <p:txBody>
          <a:bodyPr wrap="square" lIns="27432" rIns="27432" tIns="27432" bIns="27432" anchor="t">
            <a:spAutoFit/>
          </a:bodyPr>
          <a:lstStyle/>
          <a:p>
            <a:pPr algn="l">
              <a:spcAft>
                <a:spcPts val="300"/>
              </a:spcAft>
              <a:defRPr sz="2500" b="1">
                <a:solidFill>
                  <a:srgbClr val="1F302E"/>
                </a:solidFill>
                <a:latin typeface="DejaVu Sans"/>
              </a:defRPr>
            </a:pPr>
            <a:r>
              <a:t>Category results vary; sample counts matter</a:t>
            </a:r>
          </a:p>
        </p:txBody>
      </p:sp>
      <p:cxnSp>
        <p:nvCxnSpPr>
          <p:cNvPr id="4" name="Connector 3"/>
          <p:cNvCxnSpPr/>
          <p:nvPr/>
        </p:nvCxnSpPr>
        <p:spPr>
          <a:xfrm>
            <a:off x="603504" y="1307592"/>
            <a:ext cx="10972800" cy="0"/>
          </a:xfrm>
          <a:prstGeom prst="line">
            <a:avLst/>
          </a:prstGeom>
          <a:ln w="12700">
            <a:solidFill>
              <a:srgbClr val="D9E0DB"/>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603504" y="6455664"/>
            <a:ext cx="10972800" cy="0"/>
          </a:xfrm>
          <a:prstGeom prst="line">
            <a:avLst/>
          </a:prstGeom>
          <a:ln w="8890">
            <a:solidFill>
              <a:srgbClr val="D9E0DB"/>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21792" y="6492240"/>
            <a:ext cx="10241280" cy="173736"/>
          </a:xfrm>
          <a:prstGeom prst="rect">
            <a:avLst/>
          </a:prstGeom>
          <a:noFill/>
        </p:spPr>
        <p:txBody>
          <a:bodyPr wrap="square" lIns="27432" rIns="27432" tIns="27432" bIns="27432" anchor="t">
            <a:spAutoFit/>
          </a:bodyPr>
          <a:lstStyle/>
          <a:p>
            <a:pPr algn="l">
              <a:spcAft>
                <a:spcPts val="300"/>
              </a:spcAft>
              <a:defRPr sz="730" b="0">
                <a:solidFill>
                  <a:srgbClr val="61716D"/>
                </a:solidFill>
                <a:latin typeface="DejaVu Sans"/>
              </a:defRPr>
            </a:pPr>
            <a:r>
              <a:t>Source: category_analysis/overall_and_category_scores.csv; metadata labels</a:t>
            </a:r>
          </a:p>
        </p:txBody>
      </p:sp>
      <p:sp>
        <p:nvSpPr>
          <p:cNvPr id="7" name="TextBox 6"/>
          <p:cNvSpPr txBox="1"/>
          <p:nvPr/>
        </p:nvSpPr>
        <p:spPr>
          <a:xfrm>
            <a:off x="10991088" y="6473952"/>
            <a:ext cx="530352" cy="182880"/>
          </a:xfrm>
          <a:prstGeom prst="rect">
            <a:avLst/>
          </a:prstGeom>
          <a:noFill/>
        </p:spPr>
        <p:txBody>
          <a:bodyPr wrap="square" lIns="27432" rIns="27432" tIns="27432" bIns="27432" anchor="t">
            <a:spAutoFit/>
          </a:bodyPr>
          <a:lstStyle/>
          <a:p>
            <a:pPr algn="r">
              <a:spcAft>
                <a:spcPts val="300"/>
              </a:spcAft>
              <a:defRPr sz="800" b="0">
                <a:solidFill>
                  <a:srgbClr val="61716D"/>
                </a:solidFill>
                <a:latin typeface="DejaVu Sans"/>
              </a:defRPr>
            </a:pPr>
            <a:r>
              <a:t>08</a:t>
            </a:r>
          </a:p>
        </p:txBody>
      </p:sp>
      <p:sp>
        <p:nvSpPr>
          <p:cNvPr id="8" name="TextBox 7"/>
          <p:cNvSpPr txBox="1"/>
          <p:nvPr/>
        </p:nvSpPr>
        <p:spPr>
          <a:xfrm>
            <a:off x="786384" y="1481328"/>
            <a:ext cx="10607040" cy="274320"/>
          </a:xfrm>
          <a:prstGeom prst="rect">
            <a:avLst/>
          </a:prstGeom>
          <a:noFill/>
        </p:spPr>
        <p:txBody>
          <a:bodyPr wrap="square" lIns="27432" rIns="27432" tIns="27432" bIns="27432" anchor="t">
            <a:spAutoFit/>
          </a:bodyPr>
          <a:lstStyle/>
          <a:p>
            <a:pPr algn="l">
              <a:spcAft>
                <a:spcPts val="300"/>
              </a:spcAft>
              <a:defRPr sz="940" b="0">
                <a:solidFill>
                  <a:srgbClr val="61716D"/>
                </a:solidFill>
                <a:latin typeface="DejaVu Sans"/>
              </a:defRPr>
            </a:pPr>
            <a:r>
              <a:t>Balanced accuracy: one metadata category vs the same benign controls  ·  values are not multiclass scores</a:t>
            </a:r>
          </a:p>
        </p:txBody>
      </p:sp>
      <p:cxnSp>
        <p:nvCxnSpPr>
          <p:cNvPr id="9" name="Connector 8"/>
          <p:cNvCxnSpPr/>
          <p:nvPr/>
        </p:nvCxnSpPr>
        <p:spPr>
          <a:xfrm>
            <a:off x="2816352" y="1664208"/>
            <a:ext cx="0" cy="3639312"/>
          </a:xfrm>
          <a:prstGeom prst="line">
            <a:avLst/>
          </a:prstGeom>
          <a:ln w="7620">
            <a:solidFill>
              <a:srgbClr val="D9E0DB"/>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2587752" y="1463040"/>
            <a:ext cx="457200" cy="155448"/>
          </a:xfrm>
          <a:prstGeom prst="rect">
            <a:avLst/>
          </a:prstGeom>
          <a:noFill/>
        </p:spPr>
        <p:txBody>
          <a:bodyPr wrap="square" lIns="27432" rIns="27432" tIns="27432" bIns="27432" anchor="t">
            <a:spAutoFit/>
          </a:bodyPr>
          <a:lstStyle/>
          <a:p>
            <a:pPr algn="ctr">
              <a:spcAft>
                <a:spcPts val="300"/>
              </a:spcAft>
              <a:defRPr sz="800" b="0">
                <a:solidFill>
                  <a:srgbClr val="61716D"/>
                </a:solidFill>
                <a:latin typeface="DejaVu Sans"/>
              </a:defRPr>
            </a:pPr>
            <a:r>
              <a:t>70%</a:t>
            </a:r>
          </a:p>
        </p:txBody>
      </p:sp>
      <p:cxnSp>
        <p:nvCxnSpPr>
          <p:cNvPr id="11" name="Connector 10"/>
          <p:cNvCxnSpPr/>
          <p:nvPr/>
        </p:nvCxnSpPr>
        <p:spPr>
          <a:xfrm>
            <a:off x="5071872" y="1664208"/>
            <a:ext cx="0" cy="3639312"/>
          </a:xfrm>
          <a:prstGeom prst="line">
            <a:avLst/>
          </a:prstGeom>
          <a:ln w="7620">
            <a:solidFill>
              <a:srgbClr val="D9E0D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843272" y="1463040"/>
            <a:ext cx="457200" cy="155448"/>
          </a:xfrm>
          <a:prstGeom prst="rect">
            <a:avLst/>
          </a:prstGeom>
          <a:noFill/>
        </p:spPr>
        <p:txBody>
          <a:bodyPr wrap="square" lIns="27432" rIns="27432" tIns="27432" bIns="27432" anchor="t">
            <a:spAutoFit/>
          </a:bodyPr>
          <a:lstStyle/>
          <a:p>
            <a:pPr algn="ctr">
              <a:spcAft>
                <a:spcPts val="300"/>
              </a:spcAft>
              <a:defRPr sz="800" b="0">
                <a:solidFill>
                  <a:srgbClr val="61716D"/>
                </a:solidFill>
                <a:latin typeface="DejaVu Sans"/>
              </a:defRPr>
            </a:pPr>
            <a:r>
              <a:t>80%</a:t>
            </a:r>
          </a:p>
        </p:txBody>
      </p:sp>
      <p:cxnSp>
        <p:nvCxnSpPr>
          <p:cNvPr id="13" name="Connector 12"/>
          <p:cNvCxnSpPr/>
          <p:nvPr/>
        </p:nvCxnSpPr>
        <p:spPr>
          <a:xfrm>
            <a:off x="7327392" y="1664208"/>
            <a:ext cx="0" cy="3639312"/>
          </a:xfrm>
          <a:prstGeom prst="line">
            <a:avLst/>
          </a:prstGeom>
          <a:ln w="7620">
            <a:solidFill>
              <a:srgbClr val="D9E0DB"/>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7098792" y="1463040"/>
            <a:ext cx="457200" cy="155448"/>
          </a:xfrm>
          <a:prstGeom prst="rect">
            <a:avLst/>
          </a:prstGeom>
          <a:noFill/>
        </p:spPr>
        <p:txBody>
          <a:bodyPr wrap="square" lIns="27432" rIns="27432" tIns="27432" bIns="27432" anchor="t">
            <a:spAutoFit/>
          </a:bodyPr>
          <a:lstStyle/>
          <a:p>
            <a:pPr algn="ctr">
              <a:spcAft>
                <a:spcPts val="300"/>
              </a:spcAft>
              <a:defRPr sz="800" b="0">
                <a:solidFill>
                  <a:srgbClr val="61716D"/>
                </a:solidFill>
                <a:latin typeface="DejaVu Sans"/>
              </a:defRPr>
            </a:pPr>
            <a:r>
              <a:t>90%</a:t>
            </a:r>
          </a:p>
        </p:txBody>
      </p:sp>
      <p:cxnSp>
        <p:nvCxnSpPr>
          <p:cNvPr id="15" name="Connector 14"/>
          <p:cNvCxnSpPr/>
          <p:nvPr/>
        </p:nvCxnSpPr>
        <p:spPr>
          <a:xfrm>
            <a:off x="9582912" y="1664208"/>
            <a:ext cx="0" cy="3639312"/>
          </a:xfrm>
          <a:prstGeom prst="line">
            <a:avLst/>
          </a:prstGeom>
          <a:ln w="7620">
            <a:solidFill>
              <a:srgbClr val="D9E0DB"/>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9354312" y="1463040"/>
            <a:ext cx="457200" cy="155448"/>
          </a:xfrm>
          <a:prstGeom prst="rect">
            <a:avLst/>
          </a:prstGeom>
          <a:noFill/>
        </p:spPr>
        <p:txBody>
          <a:bodyPr wrap="square" lIns="27432" rIns="27432" tIns="27432" bIns="27432" anchor="t">
            <a:spAutoFit/>
          </a:bodyPr>
          <a:lstStyle/>
          <a:p>
            <a:pPr algn="ctr">
              <a:spcAft>
                <a:spcPts val="300"/>
              </a:spcAft>
              <a:defRPr sz="800" b="0">
                <a:solidFill>
                  <a:srgbClr val="61716D"/>
                </a:solidFill>
                <a:latin typeface="DejaVu Sans"/>
              </a:defRPr>
            </a:pPr>
            <a:r>
              <a:t>100%</a:t>
            </a:r>
          </a:p>
        </p:txBody>
      </p:sp>
      <p:sp>
        <p:nvSpPr>
          <p:cNvPr id="17" name="TextBox 16"/>
          <p:cNvSpPr txBox="1"/>
          <p:nvPr/>
        </p:nvSpPr>
        <p:spPr>
          <a:xfrm>
            <a:off x="758952" y="1892807"/>
            <a:ext cx="1252728" cy="274320"/>
          </a:xfrm>
          <a:prstGeom prst="rect">
            <a:avLst/>
          </a:prstGeom>
          <a:noFill/>
        </p:spPr>
        <p:txBody>
          <a:bodyPr wrap="square" lIns="27432" rIns="27432" tIns="27432" bIns="27432" anchor="t">
            <a:spAutoFit/>
          </a:bodyPr>
          <a:lstStyle/>
          <a:p>
            <a:pPr algn="l">
              <a:spcAft>
                <a:spcPts val="300"/>
              </a:spcAft>
              <a:defRPr sz="1100" b="1">
                <a:solidFill>
                  <a:srgbClr val="1F302E"/>
                </a:solidFill>
                <a:latin typeface="DejaVu Sans"/>
              </a:defRPr>
            </a:pPr>
            <a:r>
              <a:t>Backdoor</a:t>
            </a:r>
          </a:p>
        </p:txBody>
      </p:sp>
      <p:sp>
        <p:nvSpPr>
          <p:cNvPr id="18" name="TextBox 17"/>
          <p:cNvSpPr txBox="1"/>
          <p:nvPr/>
        </p:nvSpPr>
        <p:spPr>
          <a:xfrm>
            <a:off x="2084831" y="1892807"/>
            <a:ext cx="713232" cy="274320"/>
          </a:xfrm>
          <a:prstGeom prst="rect">
            <a:avLst/>
          </a:prstGeom>
          <a:noFill/>
        </p:spPr>
        <p:txBody>
          <a:bodyPr wrap="square" lIns="27432" rIns="27432" tIns="27432" bIns="27432" anchor="t">
            <a:spAutoFit/>
          </a:bodyPr>
          <a:lstStyle/>
          <a:p>
            <a:pPr algn="l">
              <a:spcAft>
                <a:spcPts val="300"/>
              </a:spcAft>
              <a:defRPr sz="819" b="1">
                <a:solidFill>
                  <a:srgbClr val="61716D"/>
                </a:solidFill>
                <a:latin typeface="DejaVu Sans"/>
              </a:defRPr>
            </a:pPr>
            <a:r>
              <a:t>n=12</a:t>
            </a:r>
          </a:p>
        </p:txBody>
      </p:sp>
      <p:sp>
        <p:nvSpPr>
          <p:cNvPr id="19" name="Rectangle 18"/>
          <p:cNvSpPr/>
          <p:nvPr/>
        </p:nvSpPr>
        <p:spPr>
          <a:xfrm>
            <a:off x="2816352" y="1856231"/>
            <a:ext cx="6766560" cy="82296"/>
          </a:xfrm>
          <a:prstGeom prst="rect">
            <a:avLst/>
          </a:prstGeom>
          <a:solidFill>
            <a:srgbClr val="E9EC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816352" y="1856231"/>
            <a:ext cx="4600933" cy="82296"/>
          </a:xfrm>
          <a:prstGeom prst="rect">
            <a:avLst/>
          </a:prstGeom>
          <a:solidFill>
            <a:srgbClr val="418C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481293" y="1815084"/>
            <a:ext cx="429768" cy="164592"/>
          </a:xfrm>
          <a:prstGeom prst="rect">
            <a:avLst/>
          </a:prstGeom>
          <a:noFill/>
        </p:spPr>
        <p:txBody>
          <a:bodyPr wrap="square" lIns="27432" rIns="27432" tIns="27432" bIns="27432" anchor="t">
            <a:spAutoFit/>
          </a:bodyPr>
          <a:lstStyle/>
          <a:p>
            <a:pPr algn="l">
              <a:spcAft>
                <a:spcPts val="300"/>
              </a:spcAft>
              <a:defRPr sz="750" b="1">
                <a:solidFill>
                  <a:srgbClr val="418C98"/>
                </a:solidFill>
                <a:latin typeface="DejaVu Sans"/>
              </a:defRPr>
            </a:pPr>
            <a:r>
              <a:t>0.90</a:t>
            </a:r>
          </a:p>
        </p:txBody>
      </p:sp>
      <p:sp>
        <p:nvSpPr>
          <p:cNvPr id="22" name="Rectangle 21"/>
          <p:cNvSpPr/>
          <p:nvPr/>
        </p:nvSpPr>
        <p:spPr>
          <a:xfrm>
            <a:off x="2816352" y="1993391"/>
            <a:ext cx="6766560" cy="82296"/>
          </a:xfrm>
          <a:prstGeom prst="rect">
            <a:avLst/>
          </a:prstGeom>
          <a:solidFill>
            <a:srgbClr val="E9EC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816352" y="1993391"/>
            <a:ext cx="6031064" cy="82296"/>
          </a:xfrm>
          <a:prstGeom prst="rect">
            <a:avLst/>
          </a:prstGeom>
          <a:solidFill>
            <a:srgbClr val="2D74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911424" y="1952243"/>
            <a:ext cx="429768" cy="164592"/>
          </a:xfrm>
          <a:prstGeom prst="rect">
            <a:avLst/>
          </a:prstGeom>
          <a:noFill/>
        </p:spPr>
        <p:txBody>
          <a:bodyPr wrap="square" lIns="27432" rIns="27432" tIns="27432" bIns="27432" anchor="t">
            <a:spAutoFit/>
          </a:bodyPr>
          <a:lstStyle/>
          <a:p>
            <a:pPr algn="l">
              <a:spcAft>
                <a:spcPts val="300"/>
              </a:spcAft>
              <a:defRPr sz="750" b="1">
                <a:solidFill>
                  <a:srgbClr val="2D745C"/>
                </a:solidFill>
                <a:latin typeface="DejaVu Sans"/>
              </a:defRPr>
            </a:pPr>
            <a:r>
              <a:t>0.97</a:t>
            </a:r>
          </a:p>
        </p:txBody>
      </p:sp>
      <p:sp>
        <p:nvSpPr>
          <p:cNvPr id="25" name="Rectangle 24"/>
          <p:cNvSpPr/>
          <p:nvPr/>
        </p:nvSpPr>
        <p:spPr>
          <a:xfrm>
            <a:off x="2816352" y="2130551"/>
            <a:ext cx="6766560" cy="82296"/>
          </a:xfrm>
          <a:prstGeom prst="rect">
            <a:avLst/>
          </a:prstGeom>
          <a:solidFill>
            <a:srgbClr val="E9EC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816352" y="2130551"/>
            <a:ext cx="6031064" cy="82296"/>
          </a:xfrm>
          <a:prstGeom prst="rect">
            <a:avLst/>
          </a:prstGeom>
          <a:solidFill>
            <a:srgbClr val="D767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911424" y="2089403"/>
            <a:ext cx="429768" cy="164592"/>
          </a:xfrm>
          <a:prstGeom prst="rect">
            <a:avLst/>
          </a:prstGeom>
          <a:noFill/>
        </p:spPr>
        <p:txBody>
          <a:bodyPr wrap="square" lIns="27432" rIns="27432" tIns="27432" bIns="27432" anchor="t">
            <a:spAutoFit/>
          </a:bodyPr>
          <a:lstStyle/>
          <a:p>
            <a:pPr algn="l">
              <a:spcAft>
                <a:spcPts val="300"/>
              </a:spcAft>
              <a:defRPr sz="750" b="1">
                <a:solidFill>
                  <a:srgbClr val="D76751"/>
                </a:solidFill>
                <a:latin typeface="DejaVu Sans"/>
              </a:defRPr>
            </a:pPr>
            <a:r>
              <a:t>0.97</a:t>
            </a:r>
          </a:p>
        </p:txBody>
      </p:sp>
      <p:sp>
        <p:nvSpPr>
          <p:cNvPr id="28" name="TextBox 27"/>
          <p:cNvSpPr txBox="1"/>
          <p:nvPr/>
        </p:nvSpPr>
        <p:spPr>
          <a:xfrm>
            <a:off x="758952" y="2478024"/>
            <a:ext cx="1252728" cy="274320"/>
          </a:xfrm>
          <a:prstGeom prst="rect">
            <a:avLst/>
          </a:prstGeom>
          <a:noFill/>
        </p:spPr>
        <p:txBody>
          <a:bodyPr wrap="square" lIns="27432" rIns="27432" tIns="27432" bIns="27432" anchor="t">
            <a:spAutoFit/>
          </a:bodyPr>
          <a:lstStyle/>
          <a:p>
            <a:pPr algn="l">
              <a:spcAft>
                <a:spcPts val="300"/>
              </a:spcAft>
              <a:defRPr sz="1100" b="1">
                <a:solidFill>
                  <a:srgbClr val="1F302E"/>
                </a:solidFill>
                <a:latin typeface="DejaVu Sans"/>
              </a:defRPr>
            </a:pPr>
            <a:r>
              <a:t>Botnet</a:t>
            </a:r>
          </a:p>
        </p:txBody>
      </p:sp>
      <p:sp>
        <p:nvSpPr>
          <p:cNvPr id="29" name="TextBox 28"/>
          <p:cNvSpPr txBox="1"/>
          <p:nvPr/>
        </p:nvSpPr>
        <p:spPr>
          <a:xfrm>
            <a:off x="2084831" y="2478024"/>
            <a:ext cx="713232" cy="274320"/>
          </a:xfrm>
          <a:prstGeom prst="rect">
            <a:avLst/>
          </a:prstGeom>
          <a:noFill/>
        </p:spPr>
        <p:txBody>
          <a:bodyPr wrap="square" lIns="27432" rIns="27432" tIns="27432" bIns="27432" anchor="t">
            <a:spAutoFit/>
          </a:bodyPr>
          <a:lstStyle/>
          <a:p>
            <a:pPr algn="l">
              <a:spcAft>
                <a:spcPts val="300"/>
              </a:spcAft>
              <a:defRPr sz="819" b="1">
                <a:solidFill>
                  <a:srgbClr val="61716D"/>
                </a:solidFill>
                <a:latin typeface="DejaVu Sans"/>
              </a:defRPr>
            </a:pPr>
            <a:r>
              <a:t>n=86</a:t>
            </a:r>
          </a:p>
        </p:txBody>
      </p:sp>
      <p:sp>
        <p:nvSpPr>
          <p:cNvPr id="30" name="Rectangle 29"/>
          <p:cNvSpPr/>
          <p:nvPr/>
        </p:nvSpPr>
        <p:spPr>
          <a:xfrm>
            <a:off x="2816352" y="2441448"/>
            <a:ext cx="6766560" cy="82296"/>
          </a:xfrm>
          <a:prstGeom prst="rect">
            <a:avLst/>
          </a:prstGeom>
          <a:solidFill>
            <a:srgbClr val="E9EC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816352" y="2441448"/>
            <a:ext cx="3835980" cy="82296"/>
          </a:xfrm>
          <a:prstGeom prst="rect">
            <a:avLst/>
          </a:prstGeom>
          <a:solidFill>
            <a:srgbClr val="418C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716340" y="2400300"/>
            <a:ext cx="429768" cy="164592"/>
          </a:xfrm>
          <a:prstGeom prst="rect">
            <a:avLst/>
          </a:prstGeom>
          <a:noFill/>
        </p:spPr>
        <p:txBody>
          <a:bodyPr wrap="square" lIns="27432" rIns="27432" tIns="27432" bIns="27432" anchor="t">
            <a:spAutoFit/>
          </a:bodyPr>
          <a:lstStyle/>
          <a:p>
            <a:pPr algn="l">
              <a:spcAft>
                <a:spcPts val="300"/>
              </a:spcAft>
              <a:defRPr sz="750" b="1">
                <a:solidFill>
                  <a:srgbClr val="418C98"/>
                </a:solidFill>
                <a:latin typeface="DejaVu Sans"/>
              </a:defRPr>
            </a:pPr>
            <a:r>
              <a:t>0.87</a:t>
            </a:r>
          </a:p>
        </p:txBody>
      </p:sp>
      <p:sp>
        <p:nvSpPr>
          <p:cNvPr id="33" name="Rectangle 32"/>
          <p:cNvSpPr/>
          <p:nvPr/>
        </p:nvSpPr>
        <p:spPr>
          <a:xfrm>
            <a:off x="2816352" y="2578608"/>
            <a:ext cx="6766560" cy="82296"/>
          </a:xfrm>
          <a:prstGeom prst="rect">
            <a:avLst/>
          </a:prstGeom>
          <a:solidFill>
            <a:srgbClr val="E9EC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2816352" y="2578608"/>
            <a:ext cx="5244255" cy="82296"/>
          </a:xfrm>
          <a:prstGeom prst="rect">
            <a:avLst/>
          </a:prstGeom>
          <a:solidFill>
            <a:srgbClr val="2D74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124615" y="2537460"/>
            <a:ext cx="429768" cy="164592"/>
          </a:xfrm>
          <a:prstGeom prst="rect">
            <a:avLst/>
          </a:prstGeom>
          <a:noFill/>
        </p:spPr>
        <p:txBody>
          <a:bodyPr wrap="square" lIns="27432" rIns="27432" tIns="27432" bIns="27432" anchor="t">
            <a:spAutoFit/>
          </a:bodyPr>
          <a:lstStyle/>
          <a:p>
            <a:pPr algn="l">
              <a:spcAft>
                <a:spcPts val="300"/>
              </a:spcAft>
              <a:defRPr sz="750" b="1">
                <a:solidFill>
                  <a:srgbClr val="2D745C"/>
                </a:solidFill>
                <a:latin typeface="DejaVu Sans"/>
              </a:defRPr>
            </a:pPr>
            <a:r>
              <a:t>0.93</a:t>
            </a:r>
          </a:p>
        </p:txBody>
      </p:sp>
      <p:sp>
        <p:nvSpPr>
          <p:cNvPr id="36" name="Rectangle 35"/>
          <p:cNvSpPr/>
          <p:nvPr/>
        </p:nvSpPr>
        <p:spPr>
          <a:xfrm>
            <a:off x="2816352" y="2715768"/>
            <a:ext cx="6766560" cy="82296"/>
          </a:xfrm>
          <a:prstGeom prst="rect">
            <a:avLst/>
          </a:prstGeom>
          <a:solidFill>
            <a:srgbClr val="E9EC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2816352" y="2715768"/>
            <a:ext cx="5899929" cy="82296"/>
          </a:xfrm>
          <a:prstGeom prst="rect">
            <a:avLst/>
          </a:prstGeom>
          <a:solidFill>
            <a:srgbClr val="D767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780289" y="2674620"/>
            <a:ext cx="429768" cy="164592"/>
          </a:xfrm>
          <a:prstGeom prst="rect">
            <a:avLst/>
          </a:prstGeom>
          <a:noFill/>
        </p:spPr>
        <p:txBody>
          <a:bodyPr wrap="square" lIns="27432" rIns="27432" tIns="27432" bIns="27432" anchor="t">
            <a:spAutoFit/>
          </a:bodyPr>
          <a:lstStyle/>
          <a:p>
            <a:pPr algn="l">
              <a:spcAft>
                <a:spcPts val="300"/>
              </a:spcAft>
              <a:defRPr sz="750" b="1">
                <a:solidFill>
                  <a:srgbClr val="D76751"/>
                </a:solidFill>
                <a:latin typeface="DejaVu Sans"/>
              </a:defRPr>
            </a:pPr>
            <a:r>
              <a:t>0.96</a:t>
            </a:r>
          </a:p>
        </p:txBody>
      </p:sp>
      <p:sp>
        <p:nvSpPr>
          <p:cNvPr id="39" name="TextBox 38"/>
          <p:cNvSpPr txBox="1"/>
          <p:nvPr/>
        </p:nvSpPr>
        <p:spPr>
          <a:xfrm>
            <a:off x="758952" y="3063239"/>
            <a:ext cx="1252728" cy="274320"/>
          </a:xfrm>
          <a:prstGeom prst="rect">
            <a:avLst/>
          </a:prstGeom>
          <a:noFill/>
        </p:spPr>
        <p:txBody>
          <a:bodyPr wrap="square" lIns="27432" rIns="27432" tIns="27432" bIns="27432" anchor="t">
            <a:spAutoFit/>
          </a:bodyPr>
          <a:lstStyle/>
          <a:p>
            <a:pPr algn="l">
              <a:spcAft>
                <a:spcPts val="300"/>
              </a:spcAft>
              <a:defRPr sz="1100" b="1">
                <a:solidFill>
                  <a:srgbClr val="1F302E"/>
                </a:solidFill>
                <a:latin typeface="DejaVu Sans"/>
              </a:defRPr>
            </a:pPr>
            <a:r>
              <a:t>DDoS</a:t>
            </a:r>
          </a:p>
        </p:txBody>
      </p:sp>
      <p:sp>
        <p:nvSpPr>
          <p:cNvPr id="40" name="TextBox 39"/>
          <p:cNvSpPr txBox="1"/>
          <p:nvPr/>
        </p:nvSpPr>
        <p:spPr>
          <a:xfrm>
            <a:off x="2084831" y="3063239"/>
            <a:ext cx="713232" cy="274320"/>
          </a:xfrm>
          <a:prstGeom prst="rect">
            <a:avLst/>
          </a:prstGeom>
          <a:noFill/>
        </p:spPr>
        <p:txBody>
          <a:bodyPr wrap="square" lIns="27432" rIns="27432" tIns="27432" bIns="27432" anchor="t">
            <a:spAutoFit/>
          </a:bodyPr>
          <a:lstStyle/>
          <a:p>
            <a:pPr algn="l">
              <a:spcAft>
                <a:spcPts val="300"/>
              </a:spcAft>
              <a:defRPr sz="819" b="1">
                <a:solidFill>
                  <a:srgbClr val="61716D"/>
                </a:solidFill>
                <a:latin typeface="DejaVu Sans"/>
              </a:defRPr>
            </a:pPr>
            <a:r>
              <a:t>n=80</a:t>
            </a:r>
          </a:p>
        </p:txBody>
      </p:sp>
      <p:sp>
        <p:nvSpPr>
          <p:cNvPr id="41" name="Rectangle 40"/>
          <p:cNvSpPr/>
          <p:nvPr/>
        </p:nvSpPr>
        <p:spPr>
          <a:xfrm>
            <a:off x="2816352" y="3026663"/>
            <a:ext cx="6766560" cy="82296"/>
          </a:xfrm>
          <a:prstGeom prst="rect">
            <a:avLst/>
          </a:prstGeom>
          <a:solidFill>
            <a:srgbClr val="E9EC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2816352" y="3026663"/>
            <a:ext cx="4412973" cy="82296"/>
          </a:xfrm>
          <a:prstGeom prst="rect">
            <a:avLst/>
          </a:prstGeom>
          <a:solidFill>
            <a:srgbClr val="418C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293333" y="2985515"/>
            <a:ext cx="429768" cy="164592"/>
          </a:xfrm>
          <a:prstGeom prst="rect">
            <a:avLst/>
          </a:prstGeom>
          <a:noFill/>
        </p:spPr>
        <p:txBody>
          <a:bodyPr wrap="square" lIns="27432" rIns="27432" tIns="27432" bIns="27432" anchor="t">
            <a:spAutoFit/>
          </a:bodyPr>
          <a:lstStyle/>
          <a:p>
            <a:pPr algn="l">
              <a:spcAft>
                <a:spcPts val="300"/>
              </a:spcAft>
              <a:defRPr sz="750" b="1">
                <a:solidFill>
                  <a:srgbClr val="418C98"/>
                </a:solidFill>
                <a:latin typeface="DejaVu Sans"/>
              </a:defRPr>
            </a:pPr>
            <a:r>
              <a:t>0.90</a:t>
            </a:r>
          </a:p>
        </p:txBody>
      </p:sp>
      <p:sp>
        <p:nvSpPr>
          <p:cNvPr id="44" name="Rectangle 43"/>
          <p:cNvSpPr/>
          <p:nvPr/>
        </p:nvSpPr>
        <p:spPr>
          <a:xfrm>
            <a:off x="2816352" y="3163823"/>
            <a:ext cx="6766560" cy="82296"/>
          </a:xfrm>
          <a:prstGeom prst="rect">
            <a:avLst/>
          </a:prstGeom>
          <a:solidFill>
            <a:srgbClr val="E9EC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2816352" y="3163823"/>
            <a:ext cx="4903304" cy="82296"/>
          </a:xfrm>
          <a:prstGeom prst="rect">
            <a:avLst/>
          </a:prstGeom>
          <a:solidFill>
            <a:srgbClr val="2D74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783664" y="3122675"/>
            <a:ext cx="429768" cy="164592"/>
          </a:xfrm>
          <a:prstGeom prst="rect">
            <a:avLst/>
          </a:prstGeom>
          <a:noFill/>
        </p:spPr>
        <p:txBody>
          <a:bodyPr wrap="square" lIns="27432" rIns="27432" tIns="27432" bIns="27432" anchor="t">
            <a:spAutoFit/>
          </a:bodyPr>
          <a:lstStyle/>
          <a:p>
            <a:pPr algn="l">
              <a:spcAft>
                <a:spcPts val="300"/>
              </a:spcAft>
              <a:defRPr sz="750" b="1">
                <a:solidFill>
                  <a:srgbClr val="2D745C"/>
                </a:solidFill>
                <a:latin typeface="DejaVu Sans"/>
              </a:defRPr>
            </a:pPr>
            <a:r>
              <a:t>0.92</a:t>
            </a:r>
          </a:p>
        </p:txBody>
      </p:sp>
      <p:sp>
        <p:nvSpPr>
          <p:cNvPr id="47" name="Rectangle 46"/>
          <p:cNvSpPr/>
          <p:nvPr/>
        </p:nvSpPr>
        <p:spPr>
          <a:xfrm>
            <a:off x="2816352" y="3300983"/>
            <a:ext cx="6766560" cy="82296"/>
          </a:xfrm>
          <a:prstGeom prst="rect">
            <a:avLst/>
          </a:prstGeom>
          <a:solidFill>
            <a:srgbClr val="E9EC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2816352" y="3300983"/>
            <a:ext cx="5044274" cy="82296"/>
          </a:xfrm>
          <a:prstGeom prst="rect">
            <a:avLst/>
          </a:prstGeom>
          <a:solidFill>
            <a:srgbClr val="D767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7924634" y="3259835"/>
            <a:ext cx="429768" cy="164592"/>
          </a:xfrm>
          <a:prstGeom prst="rect">
            <a:avLst/>
          </a:prstGeom>
          <a:noFill/>
        </p:spPr>
        <p:txBody>
          <a:bodyPr wrap="square" lIns="27432" rIns="27432" tIns="27432" bIns="27432" anchor="t">
            <a:spAutoFit/>
          </a:bodyPr>
          <a:lstStyle/>
          <a:p>
            <a:pPr algn="l">
              <a:spcAft>
                <a:spcPts val="300"/>
              </a:spcAft>
              <a:defRPr sz="750" b="1">
                <a:solidFill>
                  <a:srgbClr val="D76751"/>
                </a:solidFill>
                <a:latin typeface="DejaVu Sans"/>
              </a:defRPr>
            </a:pPr>
            <a:r>
              <a:t>0.92</a:t>
            </a:r>
          </a:p>
        </p:txBody>
      </p:sp>
      <p:sp>
        <p:nvSpPr>
          <p:cNvPr id="50" name="TextBox 49"/>
          <p:cNvSpPr txBox="1"/>
          <p:nvPr/>
        </p:nvSpPr>
        <p:spPr>
          <a:xfrm>
            <a:off x="758952" y="3648456"/>
            <a:ext cx="1252728" cy="274320"/>
          </a:xfrm>
          <a:prstGeom prst="rect">
            <a:avLst/>
          </a:prstGeom>
          <a:noFill/>
        </p:spPr>
        <p:txBody>
          <a:bodyPr wrap="square" lIns="27432" rIns="27432" tIns="27432" bIns="27432" anchor="t">
            <a:spAutoFit/>
          </a:bodyPr>
          <a:lstStyle/>
          <a:p>
            <a:pPr algn="l">
              <a:spcAft>
                <a:spcPts val="300"/>
              </a:spcAft>
              <a:defRPr sz="1100" b="1">
                <a:solidFill>
                  <a:srgbClr val="1F302E"/>
                </a:solidFill>
                <a:latin typeface="DejaVu Sans"/>
              </a:defRPr>
            </a:pPr>
            <a:r>
              <a:t>Other ELF</a:t>
            </a:r>
          </a:p>
        </p:txBody>
      </p:sp>
      <p:sp>
        <p:nvSpPr>
          <p:cNvPr id="51" name="TextBox 50"/>
          <p:cNvSpPr txBox="1"/>
          <p:nvPr/>
        </p:nvSpPr>
        <p:spPr>
          <a:xfrm>
            <a:off x="2084831" y="3648456"/>
            <a:ext cx="713232" cy="274320"/>
          </a:xfrm>
          <a:prstGeom prst="rect">
            <a:avLst/>
          </a:prstGeom>
          <a:noFill/>
        </p:spPr>
        <p:txBody>
          <a:bodyPr wrap="square" lIns="27432" rIns="27432" tIns="27432" bIns="27432" anchor="t">
            <a:spAutoFit/>
          </a:bodyPr>
          <a:lstStyle/>
          <a:p>
            <a:pPr algn="l">
              <a:spcAft>
                <a:spcPts val="300"/>
              </a:spcAft>
              <a:defRPr sz="819" b="1">
                <a:solidFill>
                  <a:srgbClr val="61716D"/>
                </a:solidFill>
                <a:latin typeface="DejaVu Sans"/>
              </a:defRPr>
            </a:pPr>
            <a:r>
              <a:t>n=17</a:t>
            </a:r>
          </a:p>
        </p:txBody>
      </p:sp>
      <p:sp>
        <p:nvSpPr>
          <p:cNvPr id="52" name="Rectangle 51"/>
          <p:cNvSpPr/>
          <p:nvPr/>
        </p:nvSpPr>
        <p:spPr>
          <a:xfrm>
            <a:off x="2816352" y="3611879"/>
            <a:ext cx="6766560" cy="82296"/>
          </a:xfrm>
          <a:prstGeom prst="rect">
            <a:avLst/>
          </a:prstGeom>
          <a:solidFill>
            <a:srgbClr val="E9EC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2816352" y="3611879"/>
            <a:ext cx="4213957" cy="82296"/>
          </a:xfrm>
          <a:prstGeom prst="rect">
            <a:avLst/>
          </a:prstGeom>
          <a:solidFill>
            <a:srgbClr val="418C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7094317" y="3570732"/>
            <a:ext cx="429768" cy="164592"/>
          </a:xfrm>
          <a:prstGeom prst="rect">
            <a:avLst/>
          </a:prstGeom>
          <a:noFill/>
        </p:spPr>
        <p:txBody>
          <a:bodyPr wrap="square" lIns="27432" rIns="27432" tIns="27432" bIns="27432" anchor="t">
            <a:spAutoFit/>
          </a:bodyPr>
          <a:lstStyle/>
          <a:p>
            <a:pPr algn="l">
              <a:spcAft>
                <a:spcPts val="300"/>
              </a:spcAft>
              <a:defRPr sz="750" b="1">
                <a:solidFill>
                  <a:srgbClr val="418C98"/>
                </a:solidFill>
                <a:latin typeface="DejaVu Sans"/>
              </a:defRPr>
            </a:pPr>
            <a:r>
              <a:t>0.89</a:t>
            </a:r>
          </a:p>
        </p:txBody>
      </p:sp>
      <p:sp>
        <p:nvSpPr>
          <p:cNvPr id="55" name="Rectangle 54"/>
          <p:cNvSpPr/>
          <p:nvPr/>
        </p:nvSpPr>
        <p:spPr>
          <a:xfrm>
            <a:off x="2816352" y="3749039"/>
            <a:ext cx="6766560" cy="82296"/>
          </a:xfrm>
          <a:prstGeom prst="rect">
            <a:avLst/>
          </a:prstGeom>
          <a:solidFill>
            <a:srgbClr val="E9EC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2816352" y="3749039"/>
            <a:ext cx="3377511" cy="82296"/>
          </a:xfrm>
          <a:prstGeom prst="rect">
            <a:avLst/>
          </a:prstGeom>
          <a:solidFill>
            <a:srgbClr val="2D74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6257871" y="3707891"/>
            <a:ext cx="429768" cy="164592"/>
          </a:xfrm>
          <a:prstGeom prst="rect">
            <a:avLst/>
          </a:prstGeom>
          <a:noFill/>
        </p:spPr>
        <p:txBody>
          <a:bodyPr wrap="square" lIns="27432" rIns="27432" tIns="27432" bIns="27432" anchor="t">
            <a:spAutoFit/>
          </a:bodyPr>
          <a:lstStyle/>
          <a:p>
            <a:pPr algn="l">
              <a:spcAft>
                <a:spcPts val="300"/>
              </a:spcAft>
              <a:defRPr sz="750" b="1">
                <a:solidFill>
                  <a:srgbClr val="2D745C"/>
                </a:solidFill>
                <a:latin typeface="DejaVu Sans"/>
              </a:defRPr>
            </a:pPr>
            <a:r>
              <a:t>0.85</a:t>
            </a:r>
          </a:p>
        </p:txBody>
      </p:sp>
      <p:sp>
        <p:nvSpPr>
          <p:cNvPr id="58" name="Rectangle 57"/>
          <p:cNvSpPr/>
          <p:nvPr/>
        </p:nvSpPr>
        <p:spPr>
          <a:xfrm>
            <a:off x="2816352" y="3886200"/>
            <a:ext cx="6766560" cy="82296"/>
          </a:xfrm>
          <a:prstGeom prst="rect">
            <a:avLst/>
          </a:prstGeom>
          <a:solidFill>
            <a:srgbClr val="E9EC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2816352" y="3886200"/>
            <a:ext cx="3377511" cy="82296"/>
          </a:xfrm>
          <a:prstGeom prst="rect">
            <a:avLst/>
          </a:prstGeom>
          <a:solidFill>
            <a:srgbClr val="D767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257871" y="3845052"/>
            <a:ext cx="429768" cy="164592"/>
          </a:xfrm>
          <a:prstGeom prst="rect">
            <a:avLst/>
          </a:prstGeom>
          <a:noFill/>
        </p:spPr>
        <p:txBody>
          <a:bodyPr wrap="square" lIns="27432" rIns="27432" tIns="27432" bIns="27432" anchor="t">
            <a:spAutoFit/>
          </a:bodyPr>
          <a:lstStyle/>
          <a:p>
            <a:pPr algn="l">
              <a:spcAft>
                <a:spcPts val="300"/>
              </a:spcAft>
              <a:defRPr sz="750" b="1">
                <a:solidFill>
                  <a:srgbClr val="D76751"/>
                </a:solidFill>
                <a:latin typeface="DejaVu Sans"/>
              </a:defRPr>
            </a:pPr>
            <a:r>
              <a:t>0.85</a:t>
            </a:r>
          </a:p>
        </p:txBody>
      </p:sp>
      <p:sp>
        <p:nvSpPr>
          <p:cNvPr id="61" name="TextBox 60"/>
          <p:cNvSpPr txBox="1"/>
          <p:nvPr/>
        </p:nvSpPr>
        <p:spPr>
          <a:xfrm>
            <a:off x="758952" y="4233672"/>
            <a:ext cx="1252728" cy="274320"/>
          </a:xfrm>
          <a:prstGeom prst="rect">
            <a:avLst/>
          </a:prstGeom>
          <a:noFill/>
        </p:spPr>
        <p:txBody>
          <a:bodyPr wrap="square" lIns="27432" rIns="27432" tIns="27432" bIns="27432" anchor="t">
            <a:spAutoFit/>
          </a:bodyPr>
          <a:lstStyle/>
          <a:p>
            <a:pPr algn="l">
              <a:spcAft>
                <a:spcPts val="300"/>
              </a:spcAft>
              <a:defRPr sz="1100" b="1">
                <a:solidFill>
                  <a:srgbClr val="1F302E"/>
                </a:solidFill>
                <a:latin typeface="DejaVu Sans"/>
              </a:defRPr>
            </a:pPr>
            <a:r>
              <a:t>Ransomware</a:t>
            </a:r>
          </a:p>
        </p:txBody>
      </p:sp>
      <p:sp>
        <p:nvSpPr>
          <p:cNvPr id="62" name="TextBox 61"/>
          <p:cNvSpPr txBox="1"/>
          <p:nvPr/>
        </p:nvSpPr>
        <p:spPr>
          <a:xfrm>
            <a:off x="2084831" y="4233672"/>
            <a:ext cx="713232" cy="274320"/>
          </a:xfrm>
          <a:prstGeom prst="rect">
            <a:avLst/>
          </a:prstGeom>
          <a:noFill/>
        </p:spPr>
        <p:txBody>
          <a:bodyPr wrap="square" lIns="27432" rIns="27432" tIns="27432" bIns="27432" anchor="t">
            <a:spAutoFit/>
          </a:bodyPr>
          <a:lstStyle/>
          <a:p>
            <a:pPr algn="l">
              <a:spcAft>
                <a:spcPts val="300"/>
              </a:spcAft>
              <a:defRPr sz="819" b="1">
                <a:solidFill>
                  <a:srgbClr val="61716D"/>
                </a:solidFill>
                <a:latin typeface="DejaVu Sans"/>
              </a:defRPr>
            </a:pPr>
            <a:r>
              <a:t>n=27</a:t>
            </a:r>
          </a:p>
        </p:txBody>
      </p:sp>
      <p:sp>
        <p:nvSpPr>
          <p:cNvPr id="63" name="Rectangle 62"/>
          <p:cNvSpPr/>
          <p:nvPr/>
        </p:nvSpPr>
        <p:spPr>
          <a:xfrm>
            <a:off x="2816352" y="4197096"/>
            <a:ext cx="6766560" cy="82296"/>
          </a:xfrm>
          <a:prstGeom prst="rect">
            <a:avLst/>
          </a:prstGeom>
          <a:solidFill>
            <a:srgbClr val="E9EC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2816352" y="4197096"/>
            <a:ext cx="2199222" cy="82296"/>
          </a:xfrm>
          <a:prstGeom prst="rect">
            <a:avLst/>
          </a:prstGeom>
          <a:solidFill>
            <a:srgbClr val="418C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5079582" y="4155948"/>
            <a:ext cx="429768" cy="164592"/>
          </a:xfrm>
          <a:prstGeom prst="rect">
            <a:avLst/>
          </a:prstGeom>
          <a:noFill/>
        </p:spPr>
        <p:txBody>
          <a:bodyPr wrap="square" lIns="27432" rIns="27432" tIns="27432" bIns="27432" anchor="t">
            <a:spAutoFit/>
          </a:bodyPr>
          <a:lstStyle/>
          <a:p>
            <a:pPr algn="l">
              <a:spcAft>
                <a:spcPts val="300"/>
              </a:spcAft>
              <a:defRPr sz="750" b="1">
                <a:solidFill>
                  <a:srgbClr val="418C98"/>
                </a:solidFill>
                <a:latin typeface="DejaVu Sans"/>
              </a:defRPr>
            </a:pPr>
            <a:r>
              <a:t>0.80</a:t>
            </a:r>
          </a:p>
        </p:txBody>
      </p:sp>
      <p:sp>
        <p:nvSpPr>
          <p:cNvPr id="66" name="Rectangle 65"/>
          <p:cNvSpPr/>
          <p:nvPr/>
        </p:nvSpPr>
        <p:spPr>
          <a:xfrm>
            <a:off x="2816352" y="4334256"/>
            <a:ext cx="6766560" cy="82296"/>
          </a:xfrm>
          <a:prstGeom prst="rect">
            <a:avLst/>
          </a:prstGeom>
          <a:solidFill>
            <a:srgbClr val="E9EC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2816352" y="4334256"/>
            <a:ext cx="4360308" cy="82296"/>
          </a:xfrm>
          <a:prstGeom prst="rect">
            <a:avLst/>
          </a:prstGeom>
          <a:solidFill>
            <a:srgbClr val="2D74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7240668" y="4293108"/>
            <a:ext cx="429768" cy="164592"/>
          </a:xfrm>
          <a:prstGeom prst="rect">
            <a:avLst/>
          </a:prstGeom>
          <a:noFill/>
        </p:spPr>
        <p:txBody>
          <a:bodyPr wrap="square" lIns="27432" rIns="27432" tIns="27432" bIns="27432" anchor="t">
            <a:spAutoFit/>
          </a:bodyPr>
          <a:lstStyle/>
          <a:p>
            <a:pPr algn="l">
              <a:spcAft>
                <a:spcPts val="300"/>
              </a:spcAft>
              <a:defRPr sz="750" b="1">
                <a:solidFill>
                  <a:srgbClr val="2D745C"/>
                </a:solidFill>
                <a:latin typeface="DejaVu Sans"/>
              </a:defRPr>
            </a:pPr>
            <a:r>
              <a:t>0.89</a:t>
            </a:r>
          </a:p>
        </p:txBody>
      </p:sp>
      <p:sp>
        <p:nvSpPr>
          <p:cNvPr id="69" name="Rectangle 68"/>
          <p:cNvSpPr/>
          <p:nvPr/>
        </p:nvSpPr>
        <p:spPr>
          <a:xfrm>
            <a:off x="2816352" y="4471416"/>
            <a:ext cx="6766560" cy="82296"/>
          </a:xfrm>
          <a:prstGeom prst="rect">
            <a:avLst/>
          </a:prstGeom>
          <a:solidFill>
            <a:srgbClr val="E9EC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2816352" y="4471416"/>
            <a:ext cx="3942619" cy="82296"/>
          </a:xfrm>
          <a:prstGeom prst="rect">
            <a:avLst/>
          </a:prstGeom>
          <a:solidFill>
            <a:srgbClr val="D767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6822979" y="4430268"/>
            <a:ext cx="429768" cy="164592"/>
          </a:xfrm>
          <a:prstGeom prst="rect">
            <a:avLst/>
          </a:prstGeom>
          <a:noFill/>
        </p:spPr>
        <p:txBody>
          <a:bodyPr wrap="square" lIns="27432" rIns="27432" tIns="27432" bIns="27432" anchor="t">
            <a:spAutoFit/>
          </a:bodyPr>
          <a:lstStyle/>
          <a:p>
            <a:pPr algn="l">
              <a:spcAft>
                <a:spcPts val="300"/>
              </a:spcAft>
              <a:defRPr sz="750" b="1">
                <a:solidFill>
                  <a:srgbClr val="D76751"/>
                </a:solidFill>
                <a:latin typeface="DejaVu Sans"/>
              </a:defRPr>
            </a:pPr>
            <a:r>
              <a:t>0.87</a:t>
            </a:r>
          </a:p>
        </p:txBody>
      </p:sp>
      <p:sp>
        <p:nvSpPr>
          <p:cNvPr id="72" name="TextBox 71"/>
          <p:cNvSpPr txBox="1"/>
          <p:nvPr/>
        </p:nvSpPr>
        <p:spPr>
          <a:xfrm>
            <a:off x="758952" y="4818888"/>
            <a:ext cx="1252728" cy="274320"/>
          </a:xfrm>
          <a:prstGeom prst="rect">
            <a:avLst/>
          </a:prstGeom>
          <a:noFill/>
        </p:spPr>
        <p:txBody>
          <a:bodyPr wrap="square" lIns="27432" rIns="27432" tIns="27432" bIns="27432" anchor="t">
            <a:spAutoFit/>
          </a:bodyPr>
          <a:lstStyle/>
          <a:p>
            <a:pPr algn="l">
              <a:spcAft>
                <a:spcPts val="300"/>
              </a:spcAft>
              <a:defRPr sz="1100" b="1">
                <a:solidFill>
                  <a:srgbClr val="1F302E"/>
                </a:solidFill>
                <a:latin typeface="DejaVu Sans"/>
              </a:defRPr>
            </a:pPr>
            <a:r>
              <a:t>Trojan*</a:t>
            </a:r>
          </a:p>
        </p:txBody>
      </p:sp>
      <p:sp>
        <p:nvSpPr>
          <p:cNvPr id="73" name="TextBox 72"/>
          <p:cNvSpPr txBox="1"/>
          <p:nvPr/>
        </p:nvSpPr>
        <p:spPr>
          <a:xfrm>
            <a:off x="2084831" y="4818888"/>
            <a:ext cx="713232" cy="274320"/>
          </a:xfrm>
          <a:prstGeom prst="rect">
            <a:avLst/>
          </a:prstGeom>
          <a:noFill/>
        </p:spPr>
        <p:txBody>
          <a:bodyPr wrap="square" lIns="27432" rIns="27432" tIns="27432" bIns="27432" anchor="t">
            <a:spAutoFit/>
          </a:bodyPr>
          <a:lstStyle/>
          <a:p>
            <a:pPr algn="l">
              <a:spcAft>
                <a:spcPts val="300"/>
              </a:spcAft>
              <a:defRPr sz="819" b="1">
                <a:solidFill>
                  <a:srgbClr val="D76751"/>
                </a:solidFill>
                <a:latin typeface="DejaVu Sans"/>
              </a:defRPr>
            </a:pPr>
            <a:r>
              <a:t>n=2 (small)</a:t>
            </a:r>
          </a:p>
        </p:txBody>
      </p:sp>
      <p:sp>
        <p:nvSpPr>
          <p:cNvPr id="74" name="Rectangle 73"/>
          <p:cNvSpPr/>
          <p:nvPr/>
        </p:nvSpPr>
        <p:spPr>
          <a:xfrm>
            <a:off x="2816352" y="4782312"/>
            <a:ext cx="6766560" cy="82296"/>
          </a:xfrm>
          <a:prstGeom prst="rect">
            <a:avLst/>
          </a:prstGeom>
          <a:solidFill>
            <a:srgbClr val="E9EC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2816352" y="4782312"/>
            <a:ext cx="5540733" cy="82296"/>
          </a:xfrm>
          <a:prstGeom prst="rect">
            <a:avLst/>
          </a:prstGeom>
          <a:solidFill>
            <a:srgbClr val="418C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8421093" y="4741164"/>
            <a:ext cx="429768" cy="164592"/>
          </a:xfrm>
          <a:prstGeom prst="rect">
            <a:avLst/>
          </a:prstGeom>
          <a:noFill/>
        </p:spPr>
        <p:txBody>
          <a:bodyPr wrap="square" lIns="27432" rIns="27432" tIns="27432" bIns="27432" anchor="t">
            <a:spAutoFit/>
          </a:bodyPr>
          <a:lstStyle/>
          <a:p>
            <a:pPr algn="l">
              <a:spcAft>
                <a:spcPts val="300"/>
              </a:spcAft>
              <a:defRPr sz="750" b="1">
                <a:solidFill>
                  <a:srgbClr val="418C98"/>
                </a:solidFill>
                <a:latin typeface="DejaVu Sans"/>
              </a:defRPr>
            </a:pPr>
            <a:r>
              <a:t>0.95</a:t>
            </a:r>
          </a:p>
        </p:txBody>
      </p:sp>
      <p:sp>
        <p:nvSpPr>
          <p:cNvPr id="77" name="Rectangle 76"/>
          <p:cNvSpPr/>
          <p:nvPr/>
        </p:nvSpPr>
        <p:spPr>
          <a:xfrm>
            <a:off x="2816352" y="4919472"/>
            <a:ext cx="6766560" cy="82296"/>
          </a:xfrm>
          <a:prstGeom prst="rect">
            <a:avLst/>
          </a:prstGeom>
          <a:solidFill>
            <a:srgbClr val="E9EC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2816352" y="4919472"/>
            <a:ext cx="6031064" cy="82296"/>
          </a:xfrm>
          <a:prstGeom prst="rect">
            <a:avLst/>
          </a:prstGeom>
          <a:solidFill>
            <a:srgbClr val="2D74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8911424" y="4878324"/>
            <a:ext cx="429768" cy="164592"/>
          </a:xfrm>
          <a:prstGeom prst="rect">
            <a:avLst/>
          </a:prstGeom>
          <a:noFill/>
        </p:spPr>
        <p:txBody>
          <a:bodyPr wrap="square" lIns="27432" rIns="27432" tIns="27432" bIns="27432" anchor="t">
            <a:spAutoFit/>
          </a:bodyPr>
          <a:lstStyle/>
          <a:p>
            <a:pPr algn="l">
              <a:spcAft>
                <a:spcPts val="300"/>
              </a:spcAft>
              <a:defRPr sz="750" b="1">
                <a:solidFill>
                  <a:srgbClr val="2D745C"/>
                </a:solidFill>
                <a:latin typeface="DejaVu Sans"/>
              </a:defRPr>
            </a:pPr>
            <a:r>
              <a:t>0.97</a:t>
            </a:r>
          </a:p>
        </p:txBody>
      </p:sp>
      <p:sp>
        <p:nvSpPr>
          <p:cNvPr id="80" name="Rectangle 79"/>
          <p:cNvSpPr/>
          <p:nvPr/>
        </p:nvSpPr>
        <p:spPr>
          <a:xfrm>
            <a:off x="2816352" y="5056632"/>
            <a:ext cx="6766560" cy="82296"/>
          </a:xfrm>
          <a:prstGeom prst="rect">
            <a:avLst/>
          </a:prstGeom>
          <a:solidFill>
            <a:srgbClr val="E9EC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Rectangle 80"/>
          <p:cNvSpPr/>
          <p:nvPr/>
        </p:nvSpPr>
        <p:spPr>
          <a:xfrm>
            <a:off x="2816352" y="5056632"/>
            <a:ext cx="6031064" cy="82296"/>
          </a:xfrm>
          <a:prstGeom prst="rect">
            <a:avLst/>
          </a:prstGeom>
          <a:solidFill>
            <a:srgbClr val="D767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8911424" y="5015484"/>
            <a:ext cx="429768" cy="164592"/>
          </a:xfrm>
          <a:prstGeom prst="rect">
            <a:avLst/>
          </a:prstGeom>
          <a:noFill/>
        </p:spPr>
        <p:txBody>
          <a:bodyPr wrap="square" lIns="27432" rIns="27432" tIns="27432" bIns="27432" anchor="t">
            <a:spAutoFit/>
          </a:bodyPr>
          <a:lstStyle/>
          <a:p>
            <a:pPr algn="l">
              <a:spcAft>
                <a:spcPts val="300"/>
              </a:spcAft>
              <a:defRPr sz="750" b="1">
                <a:solidFill>
                  <a:srgbClr val="D76751"/>
                </a:solidFill>
                <a:latin typeface="DejaVu Sans"/>
              </a:defRPr>
            </a:pPr>
            <a:r>
              <a:t>0.97</a:t>
            </a:r>
          </a:p>
        </p:txBody>
      </p:sp>
      <p:sp>
        <p:nvSpPr>
          <p:cNvPr id="83" name="Rectangle 82"/>
          <p:cNvSpPr/>
          <p:nvPr/>
        </p:nvSpPr>
        <p:spPr>
          <a:xfrm>
            <a:off x="3749039" y="5641848"/>
            <a:ext cx="146304" cy="109728"/>
          </a:xfrm>
          <a:prstGeom prst="rect">
            <a:avLst/>
          </a:prstGeom>
          <a:solidFill>
            <a:srgbClr val="418C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3950207" y="5614416"/>
            <a:ext cx="1261872" cy="182880"/>
          </a:xfrm>
          <a:prstGeom prst="rect">
            <a:avLst/>
          </a:prstGeom>
          <a:noFill/>
        </p:spPr>
        <p:txBody>
          <a:bodyPr wrap="square" lIns="27432" rIns="27432" tIns="27432" bIns="27432" anchor="t">
            <a:spAutoFit/>
          </a:bodyPr>
          <a:lstStyle/>
          <a:p>
            <a:pPr algn="l">
              <a:spcAft>
                <a:spcPts val="300"/>
              </a:spcAft>
              <a:defRPr sz="850" b="0">
                <a:solidFill>
                  <a:srgbClr val="61716D"/>
                </a:solidFill>
                <a:latin typeface="DejaVu Sans"/>
              </a:defRPr>
            </a:pPr>
            <a:r>
              <a:t>Network</a:t>
            </a:r>
          </a:p>
        </p:txBody>
      </p:sp>
      <p:sp>
        <p:nvSpPr>
          <p:cNvPr id="85" name="Rectangle 84"/>
          <p:cNvSpPr/>
          <p:nvPr/>
        </p:nvSpPr>
        <p:spPr>
          <a:xfrm>
            <a:off x="5321807" y="5641848"/>
            <a:ext cx="146304" cy="109728"/>
          </a:xfrm>
          <a:prstGeom prst="rect">
            <a:avLst/>
          </a:prstGeom>
          <a:solidFill>
            <a:srgbClr val="2D74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5522975" y="5614416"/>
            <a:ext cx="1261872" cy="182880"/>
          </a:xfrm>
          <a:prstGeom prst="rect">
            <a:avLst/>
          </a:prstGeom>
          <a:noFill/>
        </p:spPr>
        <p:txBody>
          <a:bodyPr wrap="square" lIns="27432" rIns="27432" tIns="27432" bIns="27432" anchor="t">
            <a:spAutoFit/>
          </a:bodyPr>
          <a:lstStyle/>
          <a:p>
            <a:pPr algn="l">
              <a:spcAft>
                <a:spcPts val="300"/>
              </a:spcAft>
              <a:defRPr sz="850" b="0">
                <a:solidFill>
                  <a:srgbClr val="61716D"/>
                </a:solidFill>
                <a:latin typeface="DejaVu Sans"/>
              </a:defRPr>
            </a:pPr>
            <a:r>
              <a:t>Host / eBPF</a:t>
            </a:r>
          </a:p>
        </p:txBody>
      </p:sp>
      <p:sp>
        <p:nvSpPr>
          <p:cNvPr id="87" name="Rectangle 86"/>
          <p:cNvSpPr/>
          <p:nvPr/>
        </p:nvSpPr>
        <p:spPr>
          <a:xfrm>
            <a:off x="6894575" y="5641848"/>
            <a:ext cx="146304" cy="109728"/>
          </a:xfrm>
          <a:prstGeom prst="rect">
            <a:avLst/>
          </a:prstGeom>
          <a:solidFill>
            <a:srgbClr val="D767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7095743" y="5614416"/>
            <a:ext cx="1261872" cy="182880"/>
          </a:xfrm>
          <a:prstGeom prst="rect">
            <a:avLst/>
          </a:prstGeom>
          <a:noFill/>
        </p:spPr>
        <p:txBody>
          <a:bodyPr wrap="square" lIns="27432" rIns="27432" tIns="27432" bIns="27432" anchor="t">
            <a:spAutoFit/>
          </a:bodyPr>
          <a:lstStyle/>
          <a:p>
            <a:pPr algn="l">
              <a:spcAft>
                <a:spcPts val="300"/>
              </a:spcAft>
              <a:defRPr sz="850" b="0">
                <a:solidFill>
                  <a:srgbClr val="61716D"/>
                </a:solidFill>
                <a:latin typeface="DejaVu Sans"/>
              </a:defRPr>
            </a:pPr>
            <a:r>
              <a:t>Hybrid</a:t>
            </a:r>
          </a:p>
        </p:txBody>
      </p:sp>
      <p:sp>
        <p:nvSpPr>
          <p:cNvPr id="89" name="Rounded Rectangle 88"/>
          <p:cNvSpPr/>
          <p:nvPr/>
        </p:nvSpPr>
        <p:spPr>
          <a:xfrm>
            <a:off x="804672" y="5925312"/>
            <a:ext cx="10607040" cy="329184"/>
          </a:xfrm>
          <a:prstGeom prst="roundRect">
            <a:avLst>
              <a:gd name="adj" fmla="val 8000"/>
            </a:avLst>
          </a:prstGeom>
          <a:solidFill>
            <a:srgbClr val="F3ED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950976" y="5980176"/>
            <a:ext cx="10287000" cy="192024"/>
          </a:xfrm>
          <a:prstGeom prst="rect">
            <a:avLst/>
          </a:prstGeom>
          <a:noFill/>
        </p:spPr>
        <p:txBody>
          <a:bodyPr wrap="square" lIns="27432" rIns="27432" tIns="27432" bIns="27432" anchor="t">
            <a:spAutoFit/>
          </a:bodyPr>
          <a:lstStyle/>
          <a:p>
            <a:pPr algn="ctr">
              <a:spcAft>
                <a:spcPts val="300"/>
              </a:spcAft>
              <a:defRPr sz="860" b="1">
                <a:solidFill>
                  <a:srgbClr val="1F302E"/>
                </a:solidFill>
                <a:latin typeface="DejaVu Sans"/>
              </a:defRPr>
            </a:pPr>
            <a:r>
              <a:t>* Trojan n=2: too small for a stable performance estimate. Categories are MalwareBazaar metadata.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4F4EF"/>
        </a:solidFill>
        <a:effectLst/>
      </p:bgPr>
    </p:bg>
    <p:spTree>
      <p:nvGrpSpPr>
        <p:cNvPr id="1" name=""/>
        <p:cNvGrpSpPr/>
        <p:nvPr/>
      </p:nvGrpSpPr>
      <p:grpSpPr/>
      <p:sp>
        <p:nvSpPr>
          <p:cNvPr id="2" name="TextBox 1"/>
          <p:cNvSpPr txBox="1"/>
          <p:nvPr/>
        </p:nvSpPr>
        <p:spPr>
          <a:xfrm>
            <a:off x="603504" y="310896"/>
            <a:ext cx="8961120" cy="256032"/>
          </a:xfrm>
          <a:prstGeom prst="rect">
            <a:avLst/>
          </a:prstGeom>
          <a:noFill/>
        </p:spPr>
        <p:txBody>
          <a:bodyPr wrap="square" lIns="27432" rIns="27432" tIns="27432" bIns="27432" anchor="t">
            <a:spAutoFit/>
          </a:bodyPr>
          <a:lstStyle/>
          <a:p>
            <a:pPr algn="l">
              <a:spcAft>
                <a:spcPts val="300"/>
              </a:spcAft>
              <a:defRPr sz="900" b="1">
                <a:solidFill>
                  <a:srgbClr val="2D745C"/>
                </a:solidFill>
                <a:latin typeface="DejaVu Sans"/>
              </a:defRPr>
            </a:pPr>
            <a:r>
              <a:t>08 / ERROR PROFILE</a:t>
            </a:r>
          </a:p>
        </p:txBody>
      </p:sp>
      <p:sp>
        <p:nvSpPr>
          <p:cNvPr id="3" name="TextBox 2"/>
          <p:cNvSpPr txBox="1"/>
          <p:nvPr/>
        </p:nvSpPr>
        <p:spPr>
          <a:xfrm>
            <a:off x="603504" y="658368"/>
            <a:ext cx="10927080" cy="502920"/>
          </a:xfrm>
          <a:prstGeom prst="rect">
            <a:avLst/>
          </a:prstGeom>
          <a:noFill/>
        </p:spPr>
        <p:txBody>
          <a:bodyPr wrap="square" lIns="27432" rIns="27432" tIns="27432" bIns="27432" anchor="t">
            <a:spAutoFit/>
          </a:bodyPr>
          <a:lstStyle/>
          <a:p>
            <a:pPr algn="l">
              <a:spcAft>
                <a:spcPts val="300"/>
              </a:spcAft>
              <a:defRPr sz="2500" b="1">
                <a:solidFill>
                  <a:srgbClr val="1F302E"/>
                </a:solidFill>
                <a:latin typeface="DejaVu Sans"/>
              </a:defRPr>
            </a:pPr>
            <a:r>
              <a:t>Hybrid reduced misses without adding false alarms here</a:t>
            </a:r>
          </a:p>
        </p:txBody>
      </p:sp>
      <p:cxnSp>
        <p:nvCxnSpPr>
          <p:cNvPr id="4" name="Connector 3"/>
          <p:cNvCxnSpPr/>
          <p:nvPr/>
        </p:nvCxnSpPr>
        <p:spPr>
          <a:xfrm>
            <a:off x="603504" y="1307592"/>
            <a:ext cx="10972800" cy="0"/>
          </a:xfrm>
          <a:prstGeom prst="line">
            <a:avLst/>
          </a:prstGeom>
          <a:ln w="12700">
            <a:solidFill>
              <a:srgbClr val="D9E0DB"/>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603504" y="6455664"/>
            <a:ext cx="10972800" cy="0"/>
          </a:xfrm>
          <a:prstGeom prst="line">
            <a:avLst/>
          </a:prstGeom>
          <a:ln w="8890">
            <a:solidFill>
              <a:srgbClr val="D9E0DB"/>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21792" y="6492240"/>
            <a:ext cx="10241280" cy="173736"/>
          </a:xfrm>
          <a:prstGeom prst="rect">
            <a:avLst/>
          </a:prstGeom>
          <a:noFill/>
        </p:spPr>
        <p:txBody>
          <a:bodyPr wrap="square" lIns="27432" rIns="27432" tIns="27432" bIns="27432" anchor="t">
            <a:spAutoFit/>
          </a:bodyPr>
          <a:lstStyle/>
          <a:p>
            <a:pPr algn="l">
              <a:spcAft>
                <a:spcPts val="300"/>
              </a:spcAft>
              <a:defRPr sz="730" b="0">
                <a:solidFill>
                  <a:srgbClr val="61716D"/>
                </a:solidFill>
                <a:latin typeface="DejaVu Sans"/>
              </a:defRPr>
            </a:pPr>
            <a:r>
              <a:t>Source: current cohort cv_metrics.csv; threshold 0.5</a:t>
            </a:r>
          </a:p>
        </p:txBody>
      </p:sp>
      <p:sp>
        <p:nvSpPr>
          <p:cNvPr id="7" name="TextBox 6"/>
          <p:cNvSpPr txBox="1"/>
          <p:nvPr/>
        </p:nvSpPr>
        <p:spPr>
          <a:xfrm>
            <a:off x="10991088" y="6473952"/>
            <a:ext cx="530352" cy="182880"/>
          </a:xfrm>
          <a:prstGeom prst="rect">
            <a:avLst/>
          </a:prstGeom>
          <a:noFill/>
        </p:spPr>
        <p:txBody>
          <a:bodyPr wrap="square" lIns="27432" rIns="27432" tIns="27432" bIns="27432" anchor="t">
            <a:spAutoFit/>
          </a:bodyPr>
          <a:lstStyle/>
          <a:p>
            <a:pPr algn="r">
              <a:spcAft>
                <a:spcPts val="300"/>
              </a:spcAft>
              <a:defRPr sz="800" b="0">
                <a:solidFill>
                  <a:srgbClr val="61716D"/>
                </a:solidFill>
                <a:latin typeface="DejaVu Sans"/>
              </a:defRPr>
            </a:pPr>
            <a:r>
              <a:t>09</a:t>
            </a:r>
          </a:p>
        </p:txBody>
      </p:sp>
      <p:sp>
        <p:nvSpPr>
          <p:cNvPr id="8" name="Rounded Rectangle 7"/>
          <p:cNvSpPr/>
          <p:nvPr/>
        </p:nvSpPr>
        <p:spPr>
          <a:xfrm>
            <a:off x="850392" y="1847088"/>
            <a:ext cx="3182112" cy="2633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14984" y="2048256"/>
            <a:ext cx="2834640" cy="310896"/>
          </a:xfrm>
          <a:prstGeom prst="rect">
            <a:avLst/>
          </a:prstGeom>
          <a:noFill/>
        </p:spPr>
        <p:txBody>
          <a:bodyPr wrap="square" lIns="27432" rIns="27432" tIns="27432" bIns="27432" anchor="t">
            <a:spAutoFit/>
          </a:bodyPr>
          <a:lstStyle/>
          <a:p>
            <a:pPr algn="ctr">
              <a:spcAft>
                <a:spcPts val="300"/>
              </a:spcAft>
              <a:defRPr sz="1600" b="1">
                <a:solidFill>
                  <a:srgbClr val="418C98"/>
                </a:solidFill>
                <a:latin typeface="DejaVu Sans"/>
              </a:defRPr>
            </a:pPr>
            <a:r>
              <a:t>Network</a:t>
            </a:r>
          </a:p>
        </p:txBody>
      </p:sp>
      <p:sp>
        <p:nvSpPr>
          <p:cNvPr id="10" name="TextBox 9"/>
          <p:cNvSpPr txBox="1"/>
          <p:nvPr/>
        </p:nvSpPr>
        <p:spPr>
          <a:xfrm>
            <a:off x="1033272" y="2743200"/>
            <a:ext cx="2706624" cy="192024"/>
          </a:xfrm>
          <a:prstGeom prst="rect">
            <a:avLst/>
          </a:prstGeom>
          <a:noFill/>
        </p:spPr>
        <p:txBody>
          <a:bodyPr wrap="square" lIns="27432" rIns="27432" tIns="27432" bIns="27432" anchor="t">
            <a:spAutoFit/>
          </a:bodyPr>
          <a:lstStyle/>
          <a:p>
            <a:pPr algn="l">
              <a:spcAft>
                <a:spcPts val="300"/>
              </a:spcAft>
              <a:defRPr sz="1000" b="1">
                <a:solidFill>
                  <a:srgbClr val="1F302E"/>
                </a:solidFill>
                <a:latin typeface="DejaVu Sans"/>
              </a:defRPr>
            </a:pPr>
            <a:r>
              <a:t>Missed malware (FN)   32</a:t>
            </a:r>
          </a:p>
        </p:txBody>
      </p:sp>
      <p:sp>
        <p:nvSpPr>
          <p:cNvPr id="11" name="Rectangle 10"/>
          <p:cNvSpPr/>
          <p:nvPr/>
        </p:nvSpPr>
        <p:spPr>
          <a:xfrm>
            <a:off x="1033272" y="3017520"/>
            <a:ext cx="2724912" cy="146304"/>
          </a:xfrm>
          <a:prstGeom prst="rect">
            <a:avLst/>
          </a:prstGeom>
          <a:solidFill>
            <a:srgbClr val="E7EB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033272" y="3017520"/>
            <a:ext cx="2491348" cy="146304"/>
          </a:xfrm>
          <a:prstGeom prst="rect">
            <a:avLst/>
          </a:prstGeom>
          <a:solidFill>
            <a:srgbClr val="D767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3538728"/>
            <a:ext cx="2706624" cy="192024"/>
          </a:xfrm>
          <a:prstGeom prst="rect">
            <a:avLst/>
          </a:prstGeom>
          <a:noFill/>
        </p:spPr>
        <p:txBody>
          <a:bodyPr wrap="square" lIns="27432" rIns="27432" tIns="27432" bIns="27432" anchor="t">
            <a:spAutoFit/>
          </a:bodyPr>
          <a:lstStyle/>
          <a:p>
            <a:pPr algn="l">
              <a:spcAft>
                <a:spcPts val="300"/>
              </a:spcAft>
              <a:defRPr sz="1000" b="1">
                <a:solidFill>
                  <a:srgbClr val="1F302E"/>
                </a:solidFill>
                <a:latin typeface="DejaVu Sans"/>
              </a:defRPr>
            </a:pPr>
            <a:r>
              <a:t>Benign flagged (FP)   15</a:t>
            </a:r>
          </a:p>
        </p:txBody>
      </p:sp>
      <p:sp>
        <p:nvSpPr>
          <p:cNvPr id="14" name="Rectangle 13"/>
          <p:cNvSpPr/>
          <p:nvPr/>
        </p:nvSpPr>
        <p:spPr>
          <a:xfrm>
            <a:off x="1033272" y="3813048"/>
            <a:ext cx="2724912" cy="146304"/>
          </a:xfrm>
          <a:prstGeom prst="rect">
            <a:avLst/>
          </a:prstGeom>
          <a:solidFill>
            <a:srgbClr val="E7EB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033272" y="3813048"/>
            <a:ext cx="1167819" cy="146304"/>
          </a:xfrm>
          <a:prstGeom prst="rect">
            <a:avLst/>
          </a:prstGeom>
          <a:solidFill>
            <a:srgbClr val="C995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398264" y="1847088"/>
            <a:ext cx="3182112" cy="2633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62855" y="2048256"/>
            <a:ext cx="2834640" cy="310896"/>
          </a:xfrm>
          <a:prstGeom prst="rect">
            <a:avLst/>
          </a:prstGeom>
          <a:noFill/>
        </p:spPr>
        <p:txBody>
          <a:bodyPr wrap="square" lIns="27432" rIns="27432" tIns="27432" bIns="27432" anchor="t">
            <a:spAutoFit/>
          </a:bodyPr>
          <a:lstStyle/>
          <a:p>
            <a:pPr algn="ctr">
              <a:spcAft>
                <a:spcPts val="300"/>
              </a:spcAft>
              <a:defRPr sz="1600" b="1">
                <a:solidFill>
                  <a:srgbClr val="2D745C"/>
                </a:solidFill>
                <a:latin typeface="DejaVu Sans"/>
              </a:defRPr>
            </a:pPr>
            <a:r>
              <a:t>Host / eBPF</a:t>
            </a:r>
          </a:p>
        </p:txBody>
      </p:sp>
      <p:sp>
        <p:nvSpPr>
          <p:cNvPr id="18" name="TextBox 17"/>
          <p:cNvSpPr txBox="1"/>
          <p:nvPr/>
        </p:nvSpPr>
        <p:spPr>
          <a:xfrm>
            <a:off x="4581144" y="2743200"/>
            <a:ext cx="2706624" cy="192024"/>
          </a:xfrm>
          <a:prstGeom prst="rect">
            <a:avLst/>
          </a:prstGeom>
          <a:noFill/>
        </p:spPr>
        <p:txBody>
          <a:bodyPr wrap="square" lIns="27432" rIns="27432" tIns="27432" bIns="27432" anchor="t">
            <a:spAutoFit/>
          </a:bodyPr>
          <a:lstStyle/>
          <a:p>
            <a:pPr algn="l">
              <a:spcAft>
                <a:spcPts val="300"/>
              </a:spcAft>
              <a:defRPr sz="1000" b="1">
                <a:solidFill>
                  <a:srgbClr val="1F302E"/>
                </a:solidFill>
                <a:latin typeface="DejaVu Sans"/>
              </a:defRPr>
            </a:pPr>
            <a:r>
              <a:t>Missed malware (FN)   22</a:t>
            </a:r>
          </a:p>
        </p:txBody>
      </p:sp>
      <p:sp>
        <p:nvSpPr>
          <p:cNvPr id="19" name="Rectangle 18"/>
          <p:cNvSpPr/>
          <p:nvPr/>
        </p:nvSpPr>
        <p:spPr>
          <a:xfrm>
            <a:off x="4581144" y="3017520"/>
            <a:ext cx="2724912" cy="146304"/>
          </a:xfrm>
          <a:prstGeom prst="rect">
            <a:avLst/>
          </a:prstGeom>
          <a:solidFill>
            <a:srgbClr val="E7EB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581144" y="3017520"/>
            <a:ext cx="1712801" cy="146304"/>
          </a:xfrm>
          <a:prstGeom prst="rect">
            <a:avLst/>
          </a:prstGeom>
          <a:solidFill>
            <a:srgbClr val="D767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81144" y="3538728"/>
            <a:ext cx="2706624" cy="192024"/>
          </a:xfrm>
          <a:prstGeom prst="rect">
            <a:avLst/>
          </a:prstGeom>
          <a:noFill/>
        </p:spPr>
        <p:txBody>
          <a:bodyPr wrap="square" lIns="27432" rIns="27432" tIns="27432" bIns="27432" anchor="t">
            <a:spAutoFit/>
          </a:bodyPr>
          <a:lstStyle/>
          <a:p>
            <a:pPr algn="l">
              <a:spcAft>
                <a:spcPts val="300"/>
              </a:spcAft>
              <a:defRPr sz="1000" b="1">
                <a:solidFill>
                  <a:srgbClr val="1F302E"/>
                </a:solidFill>
                <a:latin typeface="DejaVu Sans"/>
              </a:defRPr>
            </a:pPr>
            <a:r>
              <a:t>Benign flagged (FP)   9</a:t>
            </a:r>
          </a:p>
        </p:txBody>
      </p:sp>
      <p:sp>
        <p:nvSpPr>
          <p:cNvPr id="22" name="Rectangle 21"/>
          <p:cNvSpPr/>
          <p:nvPr/>
        </p:nvSpPr>
        <p:spPr>
          <a:xfrm>
            <a:off x="4581144" y="3813048"/>
            <a:ext cx="2724912" cy="146304"/>
          </a:xfrm>
          <a:prstGeom prst="rect">
            <a:avLst/>
          </a:prstGeom>
          <a:solidFill>
            <a:srgbClr val="E7EB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581144" y="3813048"/>
            <a:ext cx="700691" cy="146304"/>
          </a:xfrm>
          <a:prstGeom prst="rect">
            <a:avLst/>
          </a:prstGeom>
          <a:solidFill>
            <a:srgbClr val="C995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7946136" y="1847088"/>
            <a:ext cx="3182112" cy="2633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110727" y="2048256"/>
            <a:ext cx="2834640" cy="310896"/>
          </a:xfrm>
          <a:prstGeom prst="rect">
            <a:avLst/>
          </a:prstGeom>
          <a:noFill/>
        </p:spPr>
        <p:txBody>
          <a:bodyPr wrap="square" lIns="27432" rIns="27432" tIns="27432" bIns="27432" anchor="t">
            <a:spAutoFit/>
          </a:bodyPr>
          <a:lstStyle/>
          <a:p>
            <a:pPr algn="ctr">
              <a:spcAft>
                <a:spcPts val="300"/>
              </a:spcAft>
              <a:defRPr sz="1600" b="1">
                <a:solidFill>
                  <a:srgbClr val="D76751"/>
                </a:solidFill>
                <a:latin typeface="DejaVu Sans"/>
              </a:defRPr>
            </a:pPr>
            <a:r>
              <a:t>Hybrid</a:t>
            </a:r>
          </a:p>
        </p:txBody>
      </p:sp>
      <p:sp>
        <p:nvSpPr>
          <p:cNvPr id="26" name="TextBox 25"/>
          <p:cNvSpPr txBox="1"/>
          <p:nvPr/>
        </p:nvSpPr>
        <p:spPr>
          <a:xfrm>
            <a:off x="8129015" y="2743200"/>
            <a:ext cx="2706624" cy="192024"/>
          </a:xfrm>
          <a:prstGeom prst="rect">
            <a:avLst/>
          </a:prstGeom>
          <a:noFill/>
        </p:spPr>
        <p:txBody>
          <a:bodyPr wrap="square" lIns="27432" rIns="27432" tIns="27432" bIns="27432" anchor="t">
            <a:spAutoFit/>
          </a:bodyPr>
          <a:lstStyle/>
          <a:p>
            <a:pPr algn="l">
              <a:spcAft>
                <a:spcPts val="300"/>
              </a:spcAft>
              <a:defRPr sz="1000" b="1">
                <a:solidFill>
                  <a:srgbClr val="1F302E"/>
                </a:solidFill>
                <a:latin typeface="DejaVu Sans"/>
              </a:defRPr>
            </a:pPr>
            <a:r>
              <a:t>Missed malware (FN)   17</a:t>
            </a:r>
          </a:p>
        </p:txBody>
      </p:sp>
      <p:sp>
        <p:nvSpPr>
          <p:cNvPr id="27" name="Rectangle 26"/>
          <p:cNvSpPr/>
          <p:nvPr/>
        </p:nvSpPr>
        <p:spPr>
          <a:xfrm>
            <a:off x="8129015" y="3017520"/>
            <a:ext cx="2724912" cy="146304"/>
          </a:xfrm>
          <a:prstGeom prst="rect">
            <a:avLst/>
          </a:prstGeom>
          <a:solidFill>
            <a:srgbClr val="E7EB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129015" y="3017520"/>
            <a:ext cx="1323528" cy="146304"/>
          </a:xfrm>
          <a:prstGeom prst="rect">
            <a:avLst/>
          </a:prstGeom>
          <a:solidFill>
            <a:srgbClr val="D767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129015" y="3538728"/>
            <a:ext cx="2706624" cy="192024"/>
          </a:xfrm>
          <a:prstGeom prst="rect">
            <a:avLst/>
          </a:prstGeom>
          <a:noFill/>
        </p:spPr>
        <p:txBody>
          <a:bodyPr wrap="square" lIns="27432" rIns="27432" tIns="27432" bIns="27432" anchor="t">
            <a:spAutoFit/>
          </a:bodyPr>
          <a:lstStyle/>
          <a:p>
            <a:pPr algn="l">
              <a:spcAft>
                <a:spcPts val="300"/>
              </a:spcAft>
              <a:defRPr sz="1000" b="1">
                <a:solidFill>
                  <a:srgbClr val="1F302E"/>
                </a:solidFill>
                <a:latin typeface="DejaVu Sans"/>
              </a:defRPr>
            </a:pPr>
            <a:r>
              <a:t>Benign flagged (FP)   9</a:t>
            </a:r>
          </a:p>
        </p:txBody>
      </p:sp>
      <p:sp>
        <p:nvSpPr>
          <p:cNvPr id="30" name="Rectangle 29"/>
          <p:cNvSpPr/>
          <p:nvPr/>
        </p:nvSpPr>
        <p:spPr>
          <a:xfrm>
            <a:off x="8129015" y="3813048"/>
            <a:ext cx="2724912" cy="146304"/>
          </a:xfrm>
          <a:prstGeom prst="rect">
            <a:avLst/>
          </a:prstGeom>
          <a:solidFill>
            <a:srgbClr val="E7EB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129015" y="3813048"/>
            <a:ext cx="700691" cy="146304"/>
          </a:xfrm>
          <a:prstGeom prst="rect">
            <a:avLst/>
          </a:prstGeom>
          <a:solidFill>
            <a:srgbClr val="C995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914400" y="4901184"/>
            <a:ext cx="10305288" cy="713232"/>
          </a:xfrm>
          <a:prstGeom prst="roundRect">
            <a:avLst>
              <a:gd name="adj" fmla="val 8000"/>
            </a:avLst>
          </a:prstGeom>
          <a:solidFill>
            <a:srgbClr val="E2E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143000" y="5074920"/>
            <a:ext cx="9829800" cy="329184"/>
          </a:xfrm>
          <a:prstGeom prst="rect">
            <a:avLst/>
          </a:prstGeom>
          <a:noFill/>
        </p:spPr>
        <p:txBody>
          <a:bodyPr wrap="square" lIns="27432" rIns="27432" tIns="27432" bIns="27432" anchor="t">
            <a:spAutoFit/>
          </a:bodyPr>
          <a:lstStyle/>
          <a:p>
            <a:pPr algn="ctr">
              <a:spcAft>
                <a:spcPts val="300"/>
              </a:spcAft>
              <a:defRPr sz="1500" b="1">
                <a:solidFill>
                  <a:srgbClr val="2D745C"/>
                </a:solidFill>
                <a:latin typeface="DejaVu Sans"/>
              </a:defRPr>
            </a:pPr>
            <a:r>
              <a:t>Hybrid vs host-only: 5 more malware detections, with false positives unchanged at 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4F4EF"/>
        </a:solidFill>
        <a:effectLst/>
      </p:bgPr>
    </p:bg>
    <p:spTree>
      <p:nvGrpSpPr>
        <p:cNvPr id="1" name=""/>
        <p:cNvGrpSpPr/>
        <p:nvPr/>
      </p:nvGrpSpPr>
      <p:grpSpPr/>
      <p:sp>
        <p:nvSpPr>
          <p:cNvPr id="2" name="TextBox 1"/>
          <p:cNvSpPr txBox="1"/>
          <p:nvPr/>
        </p:nvSpPr>
        <p:spPr>
          <a:xfrm>
            <a:off x="603504" y="310896"/>
            <a:ext cx="8961120" cy="256032"/>
          </a:xfrm>
          <a:prstGeom prst="rect">
            <a:avLst/>
          </a:prstGeom>
          <a:noFill/>
        </p:spPr>
        <p:txBody>
          <a:bodyPr wrap="square" lIns="27432" rIns="27432" tIns="27432" bIns="27432" anchor="t">
            <a:spAutoFit/>
          </a:bodyPr>
          <a:lstStyle/>
          <a:p>
            <a:pPr algn="l">
              <a:spcAft>
                <a:spcPts val="300"/>
              </a:spcAft>
              <a:defRPr sz="900" b="1">
                <a:solidFill>
                  <a:srgbClr val="2D745C"/>
                </a:solidFill>
                <a:latin typeface="DejaVu Sans"/>
              </a:defRPr>
            </a:pPr>
            <a:r>
              <a:t>09 / DISCUSSION</a:t>
            </a:r>
          </a:p>
        </p:txBody>
      </p:sp>
      <p:sp>
        <p:nvSpPr>
          <p:cNvPr id="3" name="TextBox 2"/>
          <p:cNvSpPr txBox="1"/>
          <p:nvPr/>
        </p:nvSpPr>
        <p:spPr>
          <a:xfrm>
            <a:off x="603504" y="658368"/>
            <a:ext cx="10927080" cy="502920"/>
          </a:xfrm>
          <a:prstGeom prst="rect">
            <a:avLst/>
          </a:prstGeom>
          <a:noFill/>
        </p:spPr>
        <p:txBody>
          <a:bodyPr wrap="square" lIns="27432" rIns="27432" tIns="27432" bIns="27432" anchor="t">
            <a:spAutoFit/>
          </a:bodyPr>
          <a:lstStyle/>
          <a:p>
            <a:pPr algn="l">
              <a:spcAft>
                <a:spcPts val="300"/>
              </a:spcAft>
              <a:defRPr sz="2500" b="1">
                <a:solidFill>
                  <a:srgbClr val="1F302E"/>
                </a:solidFill>
                <a:latin typeface="DejaVu Sans"/>
              </a:defRPr>
            </a:pPr>
            <a:r>
              <a:t>What this result supports—and what it does not</a:t>
            </a:r>
          </a:p>
        </p:txBody>
      </p:sp>
      <p:cxnSp>
        <p:nvCxnSpPr>
          <p:cNvPr id="4" name="Connector 3"/>
          <p:cNvCxnSpPr/>
          <p:nvPr/>
        </p:nvCxnSpPr>
        <p:spPr>
          <a:xfrm>
            <a:off x="603504" y="1307592"/>
            <a:ext cx="10972800" cy="0"/>
          </a:xfrm>
          <a:prstGeom prst="line">
            <a:avLst/>
          </a:prstGeom>
          <a:ln w="12700">
            <a:solidFill>
              <a:srgbClr val="D9E0DB"/>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603504" y="6455664"/>
            <a:ext cx="10972800" cy="0"/>
          </a:xfrm>
          <a:prstGeom prst="line">
            <a:avLst/>
          </a:prstGeom>
          <a:ln w="8890">
            <a:solidFill>
              <a:srgbClr val="D9E0DB"/>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21792" y="6492240"/>
            <a:ext cx="10241280" cy="173736"/>
          </a:xfrm>
          <a:prstGeom prst="rect">
            <a:avLst/>
          </a:prstGeom>
          <a:noFill/>
        </p:spPr>
        <p:txBody>
          <a:bodyPr wrap="square" lIns="27432" rIns="27432" tIns="27432" bIns="27432" anchor="t">
            <a:spAutoFit/>
          </a:bodyPr>
          <a:lstStyle/>
          <a:p>
            <a:pPr algn="l">
              <a:spcAft>
                <a:spcPts val="300"/>
              </a:spcAft>
              <a:defRPr sz="730" b="0">
                <a:solidFill>
                  <a:srgbClr val="61716D"/>
                </a:solidFill>
                <a:latin typeface="DejaVu Sans"/>
              </a:defRPr>
            </a:pPr>
            <a:r>
              <a:t>Source: docs/STUDY_WALKTHROUGH.md, limitations</a:t>
            </a:r>
          </a:p>
        </p:txBody>
      </p:sp>
      <p:sp>
        <p:nvSpPr>
          <p:cNvPr id="7" name="TextBox 6"/>
          <p:cNvSpPr txBox="1"/>
          <p:nvPr/>
        </p:nvSpPr>
        <p:spPr>
          <a:xfrm>
            <a:off x="10991088" y="6473952"/>
            <a:ext cx="530352" cy="182880"/>
          </a:xfrm>
          <a:prstGeom prst="rect">
            <a:avLst/>
          </a:prstGeom>
          <a:noFill/>
        </p:spPr>
        <p:txBody>
          <a:bodyPr wrap="square" lIns="27432" rIns="27432" tIns="27432" bIns="27432" anchor="t">
            <a:spAutoFit/>
          </a:bodyPr>
          <a:lstStyle/>
          <a:p>
            <a:pPr algn="r">
              <a:spcAft>
                <a:spcPts val="300"/>
              </a:spcAft>
              <a:defRPr sz="800" b="0">
                <a:solidFill>
                  <a:srgbClr val="61716D"/>
                </a:solidFill>
                <a:latin typeface="DejaVu Sans"/>
              </a:defRPr>
            </a:pPr>
            <a:r>
              <a:t>10</a:t>
            </a:r>
          </a:p>
        </p:txBody>
      </p:sp>
      <p:sp>
        <p:nvSpPr>
          <p:cNvPr id="8" name="Rounded Rectangle 7"/>
          <p:cNvSpPr/>
          <p:nvPr/>
        </p:nvSpPr>
        <p:spPr>
          <a:xfrm>
            <a:off x="832104" y="1755648"/>
            <a:ext cx="5001768" cy="1865376"/>
          </a:xfrm>
          <a:prstGeom prst="roundRect">
            <a:avLst>
              <a:gd name="adj" fmla="val 8000"/>
            </a:avLst>
          </a:prstGeom>
          <a:solidFill>
            <a:srgbClr val="E2E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32104" y="1755648"/>
            <a:ext cx="64008" cy="1865376"/>
          </a:xfrm>
          <a:prstGeom prst="rect">
            <a:avLst/>
          </a:prstGeom>
          <a:solidFill>
            <a:srgbClr val="2D74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42416" y="1920240"/>
            <a:ext cx="4617720" cy="310896"/>
          </a:xfrm>
          <a:prstGeom prst="rect">
            <a:avLst/>
          </a:prstGeom>
          <a:noFill/>
        </p:spPr>
        <p:txBody>
          <a:bodyPr wrap="square" lIns="27432" rIns="27432" tIns="27432" bIns="27432" anchor="t">
            <a:spAutoFit/>
          </a:bodyPr>
          <a:lstStyle/>
          <a:p>
            <a:pPr algn="l">
              <a:spcAft>
                <a:spcPts val="300"/>
              </a:spcAft>
              <a:defRPr sz="1300" b="1">
                <a:solidFill>
                  <a:srgbClr val="2D745C"/>
                </a:solidFill>
                <a:latin typeface="DejaVu Sans"/>
              </a:defRPr>
            </a:pPr>
            <a:r>
              <a:t>SUPPORTED BY THIS RUN</a:t>
            </a:r>
          </a:p>
        </p:txBody>
      </p:sp>
      <p:sp>
        <p:nvSpPr>
          <p:cNvPr id="11" name="TextBox 10"/>
          <p:cNvSpPr txBox="1"/>
          <p:nvPr/>
        </p:nvSpPr>
        <p:spPr>
          <a:xfrm>
            <a:off x="1042416" y="2304288"/>
            <a:ext cx="4617720" cy="1170432"/>
          </a:xfrm>
          <a:prstGeom prst="rect">
            <a:avLst/>
          </a:prstGeom>
          <a:noFill/>
        </p:spPr>
        <p:txBody>
          <a:bodyPr wrap="square" lIns="27432" rIns="27432" tIns="27432" bIns="27432" anchor="t">
            <a:spAutoFit/>
          </a:bodyPr>
          <a:lstStyle/>
          <a:p>
            <a:pPr algn="l">
              <a:spcAft>
                <a:spcPts val="300"/>
              </a:spcAft>
              <a:defRPr sz="1200" b="0">
                <a:solidFill>
                  <a:srgbClr val="1F302E"/>
                </a:solidFill>
                <a:latin typeface="DejaVu Sans"/>
              </a:defRPr>
            </a:pPr>
            <a:r>
              <a:t>A grouped, equal-budget comparison on 224 malware and 138 generated benign samples.</a:t>
            </a:r>
          </a:p>
          <a:p>
            <a:pPr algn="l">
              <a:spcAft>
                <a:spcPts val="300"/>
              </a:spcAft>
              <a:defRPr sz="1200" b="0">
                <a:solidFill>
                  <a:srgbClr val="1F302E"/>
                </a:solidFill>
                <a:latin typeface="DejaVu Sans"/>
              </a:defRPr>
            </a:pPr>
            <a:r>
              <a:t>A modest hybrid improvement over host-only.</a:t>
            </a:r>
          </a:p>
        </p:txBody>
      </p:sp>
      <p:sp>
        <p:nvSpPr>
          <p:cNvPr id="12" name="Rounded Rectangle 11"/>
          <p:cNvSpPr/>
          <p:nvPr/>
        </p:nvSpPr>
        <p:spPr>
          <a:xfrm>
            <a:off x="6208776" y="1755648"/>
            <a:ext cx="5001768" cy="1865376"/>
          </a:xfrm>
          <a:prstGeom prst="roundRect">
            <a:avLst>
              <a:gd name="adj" fmla="val 8000"/>
            </a:avLst>
          </a:prstGeom>
          <a:solidFill>
            <a:srgbClr val="F5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08776" y="1755648"/>
            <a:ext cx="64008" cy="1865376"/>
          </a:xfrm>
          <a:prstGeom prst="rect">
            <a:avLst/>
          </a:prstGeom>
          <a:solidFill>
            <a:srgbClr val="D767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19088" y="1920240"/>
            <a:ext cx="4617720" cy="310896"/>
          </a:xfrm>
          <a:prstGeom prst="rect">
            <a:avLst/>
          </a:prstGeom>
          <a:noFill/>
        </p:spPr>
        <p:txBody>
          <a:bodyPr wrap="square" lIns="27432" rIns="27432" tIns="27432" bIns="27432" anchor="t">
            <a:spAutoFit/>
          </a:bodyPr>
          <a:lstStyle/>
          <a:p>
            <a:pPr algn="l">
              <a:spcAft>
                <a:spcPts val="300"/>
              </a:spcAft>
              <a:defRPr sz="1300" b="1">
                <a:solidFill>
                  <a:srgbClr val="D76751"/>
                </a:solidFill>
                <a:latin typeface="DejaVu Sans"/>
              </a:defRPr>
            </a:pPr>
            <a:r>
              <a:t>NOT ESTABLISHED</a:t>
            </a:r>
          </a:p>
        </p:txBody>
      </p:sp>
      <p:sp>
        <p:nvSpPr>
          <p:cNvPr id="15" name="TextBox 14"/>
          <p:cNvSpPr txBox="1"/>
          <p:nvPr/>
        </p:nvSpPr>
        <p:spPr>
          <a:xfrm>
            <a:off x="6419088" y="2304288"/>
            <a:ext cx="4617720" cy="1170432"/>
          </a:xfrm>
          <a:prstGeom prst="rect">
            <a:avLst/>
          </a:prstGeom>
          <a:noFill/>
        </p:spPr>
        <p:txBody>
          <a:bodyPr wrap="square" lIns="27432" rIns="27432" tIns="27432" bIns="27432" anchor="t">
            <a:spAutoFit/>
          </a:bodyPr>
          <a:lstStyle/>
          <a:p>
            <a:pPr algn="l">
              <a:spcAft>
                <a:spcPts val="300"/>
              </a:spcAft>
              <a:defRPr sz="1200" b="0">
                <a:solidFill>
                  <a:srgbClr val="1F302E"/>
                </a:solidFill>
                <a:latin typeface="DejaVu Sans"/>
              </a:defRPr>
            </a:pPr>
            <a:r>
              <a:t>General superiority of hybrid detection.</a:t>
            </a:r>
          </a:p>
          <a:p>
            <a:pPr algn="l">
              <a:spcAft>
                <a:spcPts val="300"/>
              </a:spcAft>
              <a:defRPr sz="1200" b="0">
                <a:solidFill>
                  <a:srgbClr val="1F302E"/>
                </a:solidFill>
                <a:latin typeface="DejaVu Sans"/>
              </a:defRPr>
            </a:pPr>
            <a:r>
              <a:t>Real-world false-positive rates.</a:t>
            </a:r>
          </a:p>
          <a:p>
            <a:pPr algn="l">
              <a:spcAft>
                <a:spcPts val="300"/>
              </a:spcAft>
              <a:defRPr sz="1200" b="0">
                <a:solidFill>
                  <a:srgbClr val="1F302E"/>
                </a:solidFill>
                <a:latin typeface="DejaVu Sans"/>
              </a:defRPr>
            </a:pPr>
            <a:r>
              <a:t>Live P4 hardware performance.</a:t>
            </a:r>
          </a:p>
        </p:txBody>
      </p:sp>
      <p:sp>
        <p:nvSpPr>
          <p:cNvPr id="16" name="TextBox 15"/>
          <p:cNvSpPr txBox="1"/>
          <p:nvPr/>
        </p:nvSpPr>
        <p:spPr>
          <a:xfrm>
            <a:off x="868680" y="4096512"/>
            <a:ext cx="10469880" cy="274320"/>
          </a:xfrm>
          <a:prstGeom prst="rect">
            <a:avLst/>
          </a:prstGeom>
          <a:noFill/>
        </p:spPr>
        <p:txBody>
          <a:bodyPr wrap="square" lIns="27432" rIns="27432" tIns="27432" bIns="27432" anchor="t">
            <a:spAutoFit/>
          </a:bodyPr>
          <a:lstStyle/>
          <a:p>
            <a:pPr algn="l">
              <a:spcAft>
                <a:spcPts val="300"/>
              </a:spcAft>
              <a:defRPr sz="1300" b="1">
                <a:solidFill>
                  <a:srgbClr val="1F302E"/>
                </a:solidFill>
                <a:latin typeface="DejaVu Sans"/>
              </a:defRPr>
            </a:pPr>
            <a:r>
              <a:t>Important limitations</a:t>
            </a:r>
          </a:p>
        </p:txBody>
      </p:sp>
      <p:sp>
        <p:nvSpPr>
          <p:cNvPr id="17" name="Rectangle 16"/>
          <p:cNvSpPr/>
          <p:nvPr/>
        </p:nvSpPr>
        <p:spPr>
          <a:xfrm>
            <a:off x="941832" y="4544568"/>
            <a:ext cx="109728" cy="109728"/>
          </a:xfrm>
          <a:prstGeom prst="rect">
            <a:avLst/>
          </a:prstGeom>
          <a:solidFill>
            <a:srgbClr val="418C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170432" y="4489704"/>
            <a:ext cx="9829800" cy="283464"/>
          </a:xfrm>
          <a:prstGeom prst="rect">
            <a:avLst/>
          </a:prstGeom>
          <a:noFill/>
        </p:spPr>
        <p:txBody>
          <a:bodyPr wrap="square" lIns="27432" rIns="27432" tIns="27432" bIns="27432" anchor="t">
            <a:spAutoFit/>
          </a:bodyPr>
          <a:lstStyle/>
          <a:p>
            <a:pPr algn="l">
              <a:spcAft>
                <a:spcPts val="300"/>
              </a:spcAft>
              <a:defRPr sz="1080" b="0">
                <a:solidFill>
                  <a:srgbClr val="61716D"/>
                </a:solidFill>
                <a:latin typeface="DejaVu Sans"/>
              </a:defRPr>
            </a:pPr>
            <a:r>
              <a:t>Metadata labels are not independently verified behavior; signatures can mix categories.</a:t>
            </a:r>
          </a:p>
        </p:txBody>
      </p:sp>
      <p:sp>
        <p:nvSpPr>
          <p:cNvPr id="19" name="Rectangle 18"/>
          <p:cNvSpPr/>
          <p:nvPr/>
        </p:nvSpPr>
        <p:spPr>
          <a:xfrm>
            <a:off x="941832" y="4983479"/>
            <a:ext cx="109728" cy="109728"/>
          </a:xfrm>
          <a:prstGeom prst="rect">
            <a:avLst/>
          </a:prstGeom>
          <a:solidFill>
            <a:srgbClr val="C995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170432" y="4928616"/>
            <a:ext cx="9829800" cy="283464"/>
          </a:xfrm>
          <a:prstGeom prst="rect">
            <a:avLst/>
          </a:prstGeom>
          <a:noFill/>
        </p:spPr>
        <p:txBody>
          <a:bodyPr wrap="square" lIns="27432" rIns="27432" tIns="27432" bIns="27432" anchor="t">
            <a:spAutoFit/>
          </a:bodyPr>
          <a:lstStyle/>
          <a:p>
            <a:pPr algn="l">
              <a:spcAft>
                <a:spcPts val="300"/>
              </a:spcAft>
              <a:defRPr sz="1080" b="0">
                <a:solidFill>
                  <a:srgbClr val="61716D"/>
                </a:solidFill>
                <a:latin typeface="DejaVu Sans"/>
              </a:defRPr>
            </a:pPr>
            <a:r>
              <a:t>Generated controls do not represent all ordinary Linux activity; Trojan n=2 is especially tentative.</a:t>
            </a:r>
          </a:p>
        </p:txBody>
      </p:sp>
      <p:sp>
        <p:nvSpPr>
          <p:cNvPr id="21" name="Rectangle 20"/>
          <p:cNvSpPr/>
          <p:nvPr/>
        </p:nvSpPr>
        <p:spPr>
          <a:xfrm>
            <a:off x="941832" y="5422392"/>
            <a:ext cx="109728" cy="109728"/>
          </a:xfrm>
          <a:prstGeom prst="rect">
            <a:avLst/>
          </a:prstGeom>
          <a:solidFill>
            <a:srgbClr val="D767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170432" y="5367528"/>
            <a:ext cx="9829800" cy="283464"/>
          </a:xfrm>
          <a:prstGeom prst="rect">
            <a:avLst/>
          </a:prstGeom>
          <a:noFill/>
        </p:spPr>
        <p:txBody>
          <a:bodyPr wrap="square" lIns="27432" rIns="27432" tIns="27432" bIns="27432" anchor="t">
            <a:spAutoFit/>
          </a:bodyPr>
          <a:lstStyle/>
          <a:p>
            <a:pPr algn="l">
              <a:spcAft>
                <a:spcPts val="300"/>
              </a:spcAft>
              <a:defRPr sz="1080" b="0">
                <a:solidFill>
                  <a:srgbClr val="61716D"/>
                </a:solidFill>
                <a:latin typeface="DejaVu Sans"/>
              </a:defRPr>
            </a:pPr>
            <a:r>
              <a:t>eBPF writes are syscall-level; network features are packet-capture aggregates, not P4-target measurements.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4F4EF"/>
        </a:solidFill>
        <a:effectLst/>
      </p:bgPr>
    </p:bg>
    <p:spTree>
      <p:nvGrpSpPr>
        <p:cNvPr id="1" name=""/>
        <p:cNvGrpSpPr/>
        <p:nvPr/>
      </p:nvGrpSpPr>
      <p:grpSpPr/>
      <p:sp>
        <p:nvSpPr>
          <p:cNvPr id="2" name="TextBox 1"/>
          <p:cNvSpPr txBox="1"/>
          <p:nvPr/>
        </p:nvSpPr>
        <p:spPr>
          <a:xfrm>
            <a:off x="603504" y="310896"/>
            <a:ext cx="8961120" cy="256032"/>
          </a:xfrm>
          <a:prstGeom prst="rect">
            <a:avLst/>
          </a:prstGeom>
          <a:noFill/>
        </p:spPr>
        <p:txBody>
          <a:bodyPr wrap="square" lIns="27432" rIns="27432" tIns="27432" bIns="27432" anchor="t">
            <a:spAutoFit/>
          </a:bodyPr>
          <a:lstStyle/>
          <a:p>
            <a:pPr algn="l">
              <a:spcAft>
                <a:spcPts val="300"/>
              </a:spcAft>
              <a:defRPr sz="900" b="1">
                <a:solidFill>
                  <a:srgbClr val="2D745C"/>
                </a:solidFill>
                <a:latin typeface="DejaVu Sans"/>
              </a:defRPr>
            </a:pPr>
            <a:r>
              <a:t>10 / REPRODUCTION</a:t>
            </a:r>
          </a:p>
        </p:txBody>
      </p:sp>
      <p:sp>
        <p:nvSpPr>
          <p:cNvPr id="3" name="TextBox 2"/>
          <p:cNvSpPr txBox="1"/>
          <p:nvPr/>
        </p:nvSpPr>
        <p:spPr>
          <a:xfrm>
            <a:off x="603504" y="658368"/>
            <a:ext cx="10927080" cy="502920"/>
          </a:xfrm>
          <a:prstGeom prst="rect">
            <a:avLst/>
          </a:prstGeom>
          <a:noFill/>
        </p:spPr>
        <p:txBody>
          <a:bodyPr wrap="square" lIns="27432" rIns="27432" tIns="27432" bIns="27432" anchor="t">
            <a:spAutoFit/>
          </a:bodyPr>
          <a:lstStyle/>
          <a:p>
            <a:pPr algn="l">
              <a:spcAft>
                <a:spcPts val="300"/>
              </a:spcAft>
              <a:defRPr sz="2500" b="1">
                <a:solidFill>
                  <a:srgbClr val="1F302E"/>
                </a:solidFill>
                <a:latin typeface="DejaVu Sans"/>
              </a:defRPr>
            </a:pPr>
            <a:r>
              <a:t>The model evaluation is reproducible from committed inputs</a:t>
            </a:r>
          </a:p>
        </p:txBody>
      </p:sp>
      <p:cxnSp>
        <p:nvCxnSpPr>
          <p:cNvPr id="4" name="Connector 3"/>
          <p:cNvCxnSpPr/>
          <p:nvPr/>
        </p:nvCxnSpPr>
        <p:spPr>
          <a:xfrm>
            <a:off x="603504" y="1307592"/>
            <a:ext cx="10972800" cy="0"/>
          </a:xfrm>
          <a:prstGeom prst="line">
            <a:avLst/>
          </a:prstGeom>
          <a:ln w="12700">
            <a:solidFill>
              <a:srgbClr val="D9E0DB"/>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603504" y="6455664"/>
            <a:ext cx="10972800" cy="0"/>
          </a:xfrm>
          <a:prstGeom prst="line">
            <a:avLst/>
          </a:prstGeom>
          <a:ln w="8890">
            <a:solidFill>
              <a:srgbClr val="D9E0DB"/>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21792" y="6492240"/>
            <a:ext cx="10241280" cy="173736"/>
          </a:xfrm>
          <a:prstGeom prst="rect">
            <a:avLst/>
          </a:prstGeom>
          <a:noFill/>
        </p:spPr>
        <p:txBody>
          <a:bodyPr wrap="square" lIns="27432" rIns="27432" tIns="27432" bIns="27432" anchor="t">
            <a:spAutoFit/>
          </a:bodyPr>
          <a:lstStyle/>
          <a:p>
            <a:pPr algn="l">
              <a:spcAft>
                <a:spcPts val="300"/>
              </a:spcAft>
              <a:defRPr sz="730" b="0">
                <a:solidFill>
                  <a:srgbClr val="61716D"/>
                </a:solidFill>
                <a:latin typeface="DejaVu Sans"/>
              </a:defRPr>
            </a:pPr>
            <a:r>
              <a:t>Source: docs/STUDY_WALKTHROUGH.md; repository artifact map</a:t>
            </a:r>
          </a:p>
        </p:txBody>
      </p:sp>
      <p:sp>
        <p:nvSpPr>
          <p:cNvPr id="7" name="TextBox 6"/>
          <p:cNvSpPr txBox="1"/>
          <p:nvPr/>
        </p:nvSpPr>
        <p:spPr>
          <a:xfrm>
            <a:off x="10991088" y="6473952"/>
            <a:ext cx="530352" cy="182880"/>
          </a:xfrm>
          <a:prstGeom prst="rect">
            <a:avLst/>
          </a:prstGeom>
          <a:noFill/>
        </p:spPr>
        <p:txBody>
          <a:bodyPr wrap="square" lIns="27432" rIns="27432" tIns="27432" bIns="27432" anchor="t">
            <a:spAutoFit/>
          </a:bodyPr>
          <a:lstStyle/>
          <a:p>
            <a:pPr algn="r">
              <a:spcAft>
                <a:spcPts val="300"/>
              </a:spcAft>
              <a:defRPr sz="800" b="0">
                <a:solidFill>
                  <a:srgbClr val="61716D"/>
                </a:solidFill>
                <a:latin typeface="DejaVu Sans"/>
              </a:defRPr>
            </a:pPr>
            <a:r>
              <a:t>11</a:t>
            </a:r>
          </a:p>
        </p:txBody>
      </p:sp>
      <p:sp>
        <p:nvSpPr>
          <p:cNvPr id="8" name="Rounded Rectangle 7"/>
          <p:cNvSpPr/>
          <p:nvPr/>
        </p:nvSpPr>
        <p:spPr>
          <a:xfrm>
            <a:off x="859536" y="1737360"/>
            <a:ext cx="4983480" cy="2029968"/>
          </a:xfrm>
          <a:prstGeom prst="roundRect">
            <a:avLst>
              <a:gd name="adj" fmla="val 8000"/>
            </a:avLst>
          </a:prstGeom>
          <a:solidFill>
            <a:srgbClr val="E2E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59536" y="1737360"/>
            <a:ext cx="64008" cy="2029968"/>
          </a:xfrm>
          <a:prstGeom prst="rect">
            <a:avLst/>
          </a:prstGeom>
          <a:solidFill>
            <a:srgbClr val="2D74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69848" y="1901952"/>
            <a:ext cx="4599432" cy="310896"/>
          </a:xfrm>
          <a:prstGeom prst="rect">
            <a:avLst/>
          </a:prstGeom>
          <a:noFill/>
        </p:spPr>
        <p:txBody>
          <a:bodyPr wrap="square" lIns="27432" rIns="27432" tIns="27432" bIns="27432" anchor="t">
            <a:spAutoFit/>
          </a:bodyPr>
          <a:lstStyle/>
          <a:p>
            <a:pPr algn="l">
              <a:spcAft>
                <a:spcPts val="300"/>
              </a:spcAft>
              <a:defRPr sz="1300" b="1">
                <a:solidFill>
                  <a:srgbClr val="2D745C"/>
                </a:solidFill>
                <a:latin typeface="DejaVu Sans"/>
              </a:defRPr>
            </a:pPr>
            <a:r>
              <a:t>START HERE</a:t>
            </a:r>
          </a:p>
        </p:txBody>
      </p:sp>
      <p:sp>
        <p:nvSpPr>
          <p:cNvPr id="11" name="TextBox 10"/>
          <p:cNvSpPr txBox="1"/>
          <p:nvPr/>
        </p:nvSpPr>
        <p:spPr>
          <a:xfrm>
            <a:off x="1069848" y="2286000"/>
            <a:ext cx="4599432" cy="1335024"/>
          </a:xfrm>
          <a:prstGeom prst="rect">
            <a:avLst/>
          </a:prstGeom>
          <a:noFill/>
        </p:spPr>
        <p:txBody>
          <a:bodyPr wrap="square" lIns="27432" rIns="27432" tIns="27432" bIns="27432" anchor="t">
            <a:spAutoFit/>
          </a:bodyPr>
          <a:lstStyle/>
          <a:p>
            <a:pPr algn="l">
              <a:spcAft>
                <a:spcPts val="300"/>
              </a:spcAft>
              <a:defRPr sz="1200" b="0">
                <a:solidFill>
                  <a:srgbClr val="1F302E"/>
                </a:solidFill>
                <a:latin typeface="DejaVu Sans"/>
              </a:defRPr>
            </a:pPr>
            <a:r>
              <a:t>docs/STUDY_WALKTHROUGH.md</a:t>
            </a:r>
          </a:p>
          <a:p>
            <a:pPr algn="l">
              <a:spcAft>
                <a:spcPts val="300"/>
              </a:spcAft>
              <a:defRPr sz="1200" b="0">
                <a:solidFill>
                  <a:srgbClr val="1F302E"/>
                </a:solidFill>
                <a:latin typeface="DejaVu Sans"/>
              </a:defRPr>
            </a:pPr>
          </a:p>
          <a:p>
            <a:pPr algn="l">
              <a:spcAft>
                <a:spcPts val="300"/>
              </a:spcAft>
              <a:defRPr sz="1200" b="0">
                <a:solidFill>
                  <a:srgbClr val="1F302E"/>
                </a:solidFill>
                <a:latin typeface="DejaVu Sans"/>
              </a:defRPr>
            </a:pPr>
            <a:r>
              <a:t>Chronological method, full results, limitations, commands, and this presentation's story.</a:t>
            </a:r>
          </a:p>
        </p:txBody>
      </p:sp>
      <p:sp>
        <p:nvSpPr>
          <p:cNvPr id="12" name="Rounded Rectangle 11"/>
          <p:cNvSpPr/>
          <p:nvPr/>
        </p:nvSpPr>
        <p:spPr>
          <a:xfrm>
            <a:off x="6217920" y="1737360"/>
            <a:ext cx="4983480" cy="2029968"/>
          </a:xfrm>
          <a:prstGeom prst="roundRect">
            <a:avLst>
              <a:gd name="adj" fmla="val 8000"/>
            </a:avLst>
          </a:prstGeom>
          <a:solidFill>
            <a:srgbClr val="E2EF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17920" y="1737360"/>
            <a:ext cx="64008" cy="2029968"/>
          </a:xfrm>
          <a:prstGeom prst="rect">
            <a:avLst/>
          </a:prstGeom>
          <a:solidFill>
            <a:srgbClr val="418C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28232" y="1901952"/>
            <a:ext cx="4599432" cy="310896"/>
          </a:xfrm>
          <a:prstGeom prst="rect">
            <a:avLst/>
          </a:prstGeom>
          <a:noFill/>
        </p:spPr>
        <p:txBody>
          <a:bodyPr wrap="square" lIns="27432" rIns="27432" tIns="27432" bIns="27432" anchor="t">
            <a:spAutoFit/>
          </a:bodyPr>
          <a:lstStyle/>
          <a:p>
            <a:pPr algn="l">
              <a:spcAft>
                <a:spcPts val="300"/>
              </a:spcAft>
              <a:defRPr sz="1300" b="1">
                <a:solidFill>
                  <a:srgbClr val="418C98"/>
                </a:solidFill>
                <a:latin typeface="DejaVu Sans"/>
              </a:defRPr>
            </a:pPr>
            <a:r>
              <a:t>REPRODUCE</a:t>
            </a:r>
          </a:p>
        </p:txBody>
      </p:sp>
      <p:sp>
        <p:nvSpPr>
          <p:cNvPr id="15" name="TextBox 14"/>
          <p:cNvSpPr txBox="1"/>
          <p:nvPr/>
        </p:nvSpPr>
        <p:spPr>
          <a:xfrm>
            <a:off x="6428232" y="2286000"/>
            <a:ext cx="4599432" cy="1335024"/>
          </a:xfrm>
          <a:prstGeom prst="rect">
            <a:avLst/>
          </a:prstGeom>
          <a:noFill/>
        </p:spPr>
        <p:txBody>
          <a:bodyPr wrap="square" lIns="27432" rIns="27432" tIns="27432" bIns="27432" anchor="t">
            <a:spAutoFit/>
          </a:bodyPr>
          <a:lstStyle/>
          <a:p>
            <a:pPr algn="l">
              <a:spcAft>
                <a:spcPts val="300"/>
              </a:spcAft>
              <a:defRPr sz="1200" b="0">
                <a:solidFill>
                  <a:srgbClr val="1F302E"/>
                </a:solidFill>
                <a:latin typeface="DejaVu Sans"/>
              </a:defRPr>
            </a:pPr>
            <a:r>
              <a:t>Committed engineered 224-cohort CSV</a:t>
            </a:r>
          </a:p>
          <a:p>
            <a:pPr algn="l">
              <a:spcAft>
                <a:spcPts val="300"/>
              </a:spcAft>
              <a:defRPr sz="1200" b="0">
                <a:solidFill>
                  <a:srgbClr val="1F302E"/>
                </a:solidFill>
                <a:latin typeface="DejaVu Sans"/>
              </a:defRPr>
            </a:pPr>
            <a:r>
              <a:t>→ train_compare.py</a:t>
            </a:r>
          </a:p>
          <a:p>
            <a:pPr algn="l">
              <a:spcAft>
                <a:spcPts val="300"/>
              </a:spcAft>
              <a:defRPr sz="1200" b="0">
                <a:solidFill>
                  <a:srgbClr val="1F302E"/>
                </a:solidFill>
                <a:latin typeface="DejaVu Sans"/>
              </a:defRPr>
            </a:pPr>
            <a:r>
              <a:t>→ analyze_malware_category_results.py</a:t>
            </a:r>
          </a:p>
        </p:txBody>
      </p:sp>
      <p:sp>
        <p:nvSpPr>
          <p:cNvPr id="16" name="TextBox 15"/>
          <p:cNvSpPr txBox="1"/>
          <p:nvPr/>
        </p:nvSpPr>
        <p:spPr>
          <a:xfrm>
            <a:off x="932688" y="4169663"/>
            <a:ext cx="10195560" cy="292608"/>
          </a:xfrm>
          <a:prstGeom prst="rect">
            <a:avLst/>
          </a:prstGeom>
          <a:noFill/>
        </p:spPr>
        <p:txBody>
          <a:bodyPr wrap="square" lIns="27432" rIns="27432" tIns="27432" bIns="27432" anchor="t">
            <a:spAutoFit/>
          </a:bodyPr>
          <a:lstStyle/>
          <a:p>
            <a:pPr algn="l">
              <a:spcAft>
                <a:spcPts val="300"/>
              </a:spcAft>
              <a:defRPr sz="1300" b="1">
                <a:solidFill>
                  <a:srgbClr val="1F302E"/>
                </a:solidFill>
                <a:latin typeface="DejaVu Sans"/>
              </a:defRPr>
            </a:pPr>
            <a:r>
              <a:t>For questions</a:t>
            </a:r>
          </a:p>
        </p:txBody>
      </p:sp>
      <p:sp>
        <p:nvSpPr>
          <p:cNvPr id="17" name="TextBox 16"/>
          <p:cNvSpPr txBox="1"/>
          <p:nvPr/>
        </p:nvSpPr>
        <p:spPr>
          <a:xfrm>
            <a:off x="941832" y="4562856"/>
            <a:ext cx="10168128" cy="841248"/>
          </a:xfrm>
          <a:prstGeom prst="rect">
            <a:avLst/>
          </a:prstGeom>
          <a:noFill/>
        </p:spPr>
        <p:txBody>
          <a:bodyPr wrap="square" lIns="27432" rIns="27432" tIns="27432" bIns="27432" anchor="t">
            <a:spAutoFit/>
          </a:bodyPr>
          <a:lstStyle/>
          <a:p>
            <a:pPr algn="l">
              <a:spcAft>
                <a:spcPts val="300"/>
              </a:spcAft>
              <a:defRPr sz="1200" b="0">
                <a:solidFill>
                  <a:srgbClr val="61716D"/>
                </a:solidFill>
                <a:latin typeface="DejaVu Sans"/>
              </a:defRPr>
            </a:pPr>
            <a:r>
              <a:t>Why group by signature/package?  ·  What does balanced accuracy add?  ·  Why is the hybrid gain modest?</a:t>
            </a:r>
          </a:p>
          <a:p>
            <a:pPr algn="l">
              <a:spcAft>
                <a:spcPts val="300"/>
              </a:spcAft>
              <a:defRPr sz="1200" b="0">
                <a:solidFill>
                  <a:srgbClr val="61716D"/>
                </a:solidFill>
                <a:latin typeface="DejaVu Sans"/>
              </a:defRPr>
            </a:pPr>
            <a:r>
              <a:t>What would change with real benign traffic or live P4 counters?  ·  How should metadata label uncertainty be handled?</a:t>
            </a:r>
          </a:p>
        </p:txBody>
      </p:sp>
      <p:sp>
        <p:nvSpPr>
          <p:cNvPr id="18" name="Rounded Rectangle 17"/>
          <p:cNvSpPr/>
          <p:nvPr/>
        </p:nvSpPr>
        <p:spPr>
          <a:xfrm>
            <a:off x="923544" y="5650992"/>
            <a:ext cx="10268712" cy="384048"/>
          </a:xfrm>
          <a:prstGeom prst="roundRect">
            <a:avLst>
              <a:gd name="adj" fmla="val 8000"/>
            </a:avLst>
          </a:prstGeom>
          <a:solidFill>
            <a:srgbClr val="1F3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115568" y="5715000"/>
            <a:ext cx="9875520" cy="201168"/>
          </a:xfrm>
          <a:prstGeom prst="rect">
            <a:avLst/>
          </a:prstGeom>
          <a:noFill/>
        </p:spPr>
        <p:txBody>
          <a:bodyPr wrap="square" lIns="27432" rIns="27432" tIns="27432" bIns="27432" anchor="t">
            <a:spAutoFit/>
          </a:bodyPr>
          <a:lstStyle/>
          <a:p>
            <a:pPr algn="ctr">
              <a:spcAft>
                <a:spcPts val="300"/>
              </a:spcAft>
              <a:defRPr sz="1040" b="1">
                <a:solidFill>
                  <a:srgbClr val="FFFFFF"/>
                </a:solidFill>
                <a:latin typeface="DejaVu Sans"/>
              </a:defRPr>
            </a:pPr>
            <a:r>
              <a:t>Takeaway: promising complementarity in this cohort; broader, independent validation is the next scientific step.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Hybrid Malware Detection: Network, Host/eBPF, and Combined Models</dc:title>
  <dc:subject>Professor presentation based on the 224-malware grouped evaluation</dc:subject>
  <dc:creator>Hybrid Malware Detection Study</dc:creator>
  <cp:keywords>malware detection, eBPF, network telemetry, grouped cross-validation</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